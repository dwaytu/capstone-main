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-background">
            <a:extLst>
              <a:ext uri="{FF2B5EF4-FFF2-40B4-BE49-F238E27FC236}">
                <a16:creationId xmlns:a16="http://schemas.microsoft.com/office/drawing/2014/main" id="{17646A6C-005A-4400-9532-60B5596EB8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66A6A05C-C7F1-47E8-BB63-3F87A164E97E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19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SENTINEL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A76C0-EDFC-4A17-A658-B696E7F5F65F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590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44C8E8"/>
                </a:solidFill>
                <a:latin typeface="Arial"/>
                <a:ea typeface="Arial"/>
                <a:cs typeface="Arial"/>
              </a:rPr>
              <a:t>System Process Flows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48D1A-475E-427D-B601-4E8FA8DF6C7F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523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7B1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26657-A2C8-4FD0-9A24-B2C8F45D485C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485775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16DF8B-F02C-4298-A15D-2ECB71D99DD9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38097"/>
                </a:solidFill>
                <a:latin typeface="Courier New"/>
                <a:ea typeface="Courier New"/>
                <a:cs typeface="Courier New"/>
              </a:defRPr>
            </a:pPr>
            <a:endParaRPr sz="975" b="0" dirty="0">
              <a:solidFill>
                <a:srgbClr val="738097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DD03C-DE9F-4FE3-8430-6CFC1EF0C439}"/>
              </a:ext>
            </a:extLst>
          </p:cNvPr>
          <p:cNvSpPr>
            <a:spLocks noGrp="1"/>
          </p:cNvSpPr>
          <p:nvPr/>
        </p:nvSpPr>
        <p:spPr>
          <a:xfrm>
            <a:off x="6858000" y="6858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endParaRPr sz="825" b="1" dirty="0">
              <a:solidFill>
                <a:srgbClr val="44C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" name="overview-1">
            <a:extLst>
              <a:ext uri="{FF2B5EF4-FFF2-40B4-BE49-F238E27FC236}">
                <a16:creationId xmlns:a16="http://schemas.microsoft.com/office/drawing/2014/main" id="{3D840B81-C695-4361-95A9-6D0D8A7665FF}"/>
              </a:ext>
            </a:extLst>
          </p:cNvPr>
          <p:cNvSpPr>
            <a:spLocks noGrp="1"/>
          </p:cNvSpPr>
          <p:nvPr/>
        </p:nvSpPr>
        <p:spPr>
          <a:xfrm>
            <a:off x="6858000" y="1162050"/>
            <a:ext cx="3429000" cy="476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erview-1-marker">
            <a:extLst>
              <a:ext uri="{FF2B5EF4-FFF2-40B4-BE49-F238E27FC236}">
                <a16:creationId xmlns:a16="http://schemas.microsoft.com/office/drawing/2014/main" id="{ED1F905B-EA43-4258-B8F3-8A74E931EE4B}"/>
              </a:ext>
            </a:extLst>
          </p:cNvPr>
          <p:cNvSpPr>
            <a:spLocks noGrp="1"/>
          </p:cNvSpPr>
          <p:nvPr/>
        </p:nvSpPr>
        <p:spPr>
          <a:xfrm>
            <a:off x="7010400" y="13144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0A850-EFFB-417F-A3F4-BD12C455F5F5}"/>
              </a:ext>
            </a:extLst>
          </p:cNvPr>
          <p:cNvSpPr>
            <a:spLocks noGrp="1"/>
          </p:cNvSpPr>
          <p:nvPr/>
        </p:nvSpPr>
        <p:spPr>
          <a:xfrm>
            <a:off x="7010400" y="13525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2E0DD-072D-4036-A7E5-A3CAB95B7873}"/>
              </a:ext>
            </a:extLst>
          </p:cNvPr>
          <p:cNvSpPr>
            <a:spLocks noGrp="1"/>
          </p:cNvSpPr>
          <p:nvPr/>
        </p:nvSpPr>
        <p:spPr>
          <a:xfrm>
            <a:off x="7410450" y="12858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Secure entry</a:t>
            </a:r>
          </a:p>
        </p:txBody>
      </p:sp>
      <p:sp>
        <p:nvSpPr>
          <p:cNvPr id="14" name="overview-connector-1">
            <a:extLst>
              <a:ext uri="{FF2B5EF4-FFF2-40B4-BE49-F238E27FC236}">
                <a16:creationId xmlns:a16="http://schemas.microsoft.com/office/drawing/2014/main" id="{255C5CF7-119F-435B-861C-40B2917D0DFE}"/>
              </a:ext>
            </a:extLst>
          </p:cNvPr>
          <p:cNvSpPr>
            <a:spLocks noGrp="1"/>
          </p:cNvSpPr>
          <p:nvPr/>
        </p:nvSpPr>
        <p:spPr>
          <a:xfrm>
            <a:off x="7029450" y="1657350"/>
            <a:ext cx="190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erview-connector-1-end">
            <a:extLst>
              <a:ext uri="{FF2B5EF4-FFF2-40B4-BE49-F238E27FC236}">
                <a16:creationId xmlns:a16="http://schemas.microsoft.com/office/drawing/2014/main" id="{5A9F1201-8A5C-4EFA-AC80-2A5DB76CFE55}"/>
              </a:ext>
            </a:extLst>
          </p:cNvPr>
          <p:cNvSpPr>
            <a:spLocks noGrp="1"/>
          </p:cNvSpPr>
          <p:nvPr/>
        </p:nvSpPr>
        <p:spPr>
          <a:xfrm>
            <a:off x="7010400" y="16287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erview-2">
            <a:extLst>
              <a:ext uri="{FF2B5EF4-FFF2-40B4-BE49-F238E27FC236}">
                <a16:creationId xmlns:a16="http://schemas.microsoft.com/office/drawing/2014/main" id="{06368BFD-454D-4FBF-8047-3C200C47D002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3429000" cy="476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erview-2-marker">
            <a:extLst>
              <a:ext uri="{FF2B5EF4-FFF2-40B4-BE49-F238E27FC236}">
                <a16:creationId xmlns:a16="http://schemas.microsoft.com/office/drawing/2014/main" id="{3FDB1805-2564-43E2-9E12-58655903B63E}"/>
              </a:ext>
            </a:extLst>
          </p:cNvPr>
          <p:cNvSpPr>
            <a:spLocks noGrp="1"/>
          </p:cNvSpPr>
          <p:nvPr/>
        </p:nvSpPr>
        <p:spPr>
          <a:xfrm>
            <a:off x="7010400" y="20002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C58CE-49D7-4263-A37B-E85A05DC2B77}"/>
              </a:ext>
            </a:extLst>
          </p:cNvPr>
          <p:cNvSpPr>
            <a:spLocks noGrp="1"/>
          </p:cNvSpPr>
          <p:nvPr/>
        </p:nvSpPr>
        <p:spPr>
          <a:xfrm>
            <a:off x="7010400" y="20383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DDDC16-6E06-4D25-9D51-C601DC88D809}"/>
              </a:ext>
            </a:extLst>
          </p:cNvPr>
          <p:cNvSpPr>
            <a:spLocks noGrp="1"/>
          </p:cNvSpPr>
          <p:nvPr/>
        </p:nvSpPr>
        <p:spPr>
          <a:xfrm>
            <a:off x="7410450" y="19716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Role workspace</a:t>
            </a:r>
          </a:p>
        </p:txBody>
      </p:sp>
      <p:sp>
        <p:nvSpPr>
          <p:cNvPr id="20" name="overview-connector-2">
            <a:extLst>
              <a:ext uri="{FF2B5EF4-FFF2-40B4-BE49-F238E27FC236}">
                <a16:creationId xmlns:a16="http://schemas.microsoft.com/office/drawing/2014/main" id="{8AF2126F-A7E7-4304-88A4-70B912418F27}"/>
              </a:ext>
            </a:extLst>
          </p:cNvPr>
          <p:cNvSpPr>
            <a:spLocks noGrp="1"/>
          </p:cNvSpPr>
          <p:nvPr/>
        </p:nvSpPr>
        <p:spPr>
          <a:xfrm>
            <a:off x="7029450" y="2343150"/>
            <a:ext cx="190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erview-connector-2-end">
            <a:extLst>
              <a:ext uri="{FF2B5EF4-FFF2-40B4-BE49-F238E27FC236}">
                <a16:creationId xmlns:a16="http://schemas.microsoft.com/office/drawing/2014/main" id="{6724C9A6-D6C1-462D-A0C7-14DA34D93062}"/>
              </a:ext>
            </a:extLst>
          </p:cNvPr>
          <p:cNvSpPr>
            <a:spLocks noGrp="1"/>
          </p:cNvSpPr>
          <p:nvPr/>
        </p:nvSpPr>
        <p:spPr>
          <a:xfrm>
            <a:off x="7010400" y="23145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erview-3">
            <a:extLst>
              <a:ext uri="{FF2B5EF4-FFF2-40B4-BE49-F238E27FC236}">
                <a16:creationId xmlns:a16="http://schemas.microsoft.com/office/drawing/2014/main" id="{DB036565-DA53-45BD-8368-D5D96F890A65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3429000" cy="476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erview-3-marker">
            <a:extLst>
              <a:ext uri="{FF2B5EF4-FFF2-40B4-BE49-F238E27FC236}">
                <a16:creationId xmlns:a16="http://schemas.microsoft.com/office/drawing/2014/main" id="{3C139210-0707-47F8-983D-5491FB23D122}"/>
              </a:ext>
            </a:extLst>
          </p:cNvPr>
          <p:cNvSpPr>
            <a:spLocks noGrp="1"/>
          </p:cNvSpPr>
          <p:nvPr/>
        </p:nvSpPr>
        <p:spPr>
          <a:xfrm>
            <a:off x="7010400" y="26860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16D6A6-7F58-41FC-A7F7-1DD483EDAA25}"/>
              </a:ext>
            </a:extLst>
          </p:cNvPr>
          <p:cNvSpPr>
            <a:spLocks noGrp="1"/>
          </p:cNvSpPr>
          <p:nvPr/>
        </p:nvSpPr>
        <p:spPr>
          <a:xfrm>
            <a:off x="7010400" y="2724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08D84-B7F3-4D08-8407-21688A31468E}"/>
              </a:ext>
            </a:extLst>
          </p:cNvPr>
          <p:cNvSpPr>
            <a:spLocks noGrp="1"/>
          </p:cNvSpPr>
          <p:nvPr/>
        </p:nvSpPr>
        <p:spPr>
          <a:xfrm>
            <a:off x="7410450" y="26574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Validated action</a:t>
            </a:r>
          </a:p>
        </p:txBody>
      </p:sp>
      <p:sp>
        <p:nvSpPr>
          <p:cNvPr id="26" name="overview-connector-3">
            <a:extLst>
              <a:ext uri="{FF2B5EF4-FFF2-40B4-BE49-F238E27FC236}">
                <a16:creationId xmlns:a16="http://schemas.microsoft.com/office/drawing/2014/main" id="{36227D11-BEFC-4EA4-A180-75C40C9CC0DB}"/>
              </a:ext>
            </a:extLst>
          </p:cNvPr>
          <p:cNvSpPr>
            <a:spLocks noGrp="1"/>
          </p:cNvSpPr>
          <p:nvPr/>
        </p:nvSpPr>
        <p:spPr>
          <a:xfrm>
            <a:off x="7029450" y="3028950"/>
            <a:ext cx="190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erview-connector-3-end">
            <a:extLst>
              <a:ext uri="{FF2B5EF4-FFF2-40B4-BE49-F238E27FC236}">
                <a16:creationId xmlns:a16="http://schemas.microsoft.com/office/drawing/2014/main" id="{A82937A8-3E98-40CE-9EAF-BD2D0F891FB0}"/>
              </a:ext>
            </a:extLst>
          </p:cNvPr>
          <p:cNvSpPr>
            <a:spLocks noGrp="1"/>
          </p:cNvSpPr>
          <p:nvPr/>
        </p:nvSpPr>
        <p:spPr>
          <a:xfrm>
            <a:off x="7010400" y="30003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erview-4">
            <a:extLst>
              <a:ext uri="{FF2B5EF4-FFF2-40B4-BE49-F238E27FC236}">
                <a16:creationId xmlns:a16="http://schemas.microsoft.com/office/drawing/2014/main" id="{627215B2-C5CD-403A-8FB1-FA1760A1ED94}"/>
              </a:ext>
            </a:extLst>
          </p:cNvPr>
          <p:cNvSpPr>
            <a:spLocks noGrp="1"/>
          </p:cNvSpPr>
          <p:nvPr/>
        </p:nvSpPr>
        <p:spPr>
          <a:xfrm>
            <a:off x="6858000" y="3219450"/>
            <a:ext cx="3429000" cy="476250"/>
          </a:xfrm>
          <a:prstGeom prst="rect">
            <a:avLst/>
          </a:prstGeom>
          <a:solidFill>
            <a:srgbClr val="142B2A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erview-4-marker">
            <a:extLst>
              <a:ext uri="{FF2B5EF4-FFF2-40B4-BE49-F238E27FC236}">
                <a16:creationId xmlns:a16="http://schemas.microsoft.com/office/drawing/2014/main" id="{E41AD9F7-3D73-4028-A58D-E14C6B193291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5FDC31-8CCC-4126-9272-B156AEE96149}"/>
              </a:ext>
            </a:extLst>
          </p:cNvPr>
          <p:cNvSpPr>
            <a:spLocks noGrp="1"/>
          </p:cNvSpPr>
          <p:nvPr/>
        </p:nvSpPr>
        <p:spPr>
          <a:xfrm>
            <a:off x="7010400" y="3409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F17F81-619B-41D9-B83D-96DA2E41D7F9}"/>
              </a:ext>
            </a:extLst>
          </p:cNvPr>
          <p:cNvSpPr>
            <a:spLocks noGrp="1"/>
          </p:cNvSpPr>
          <p:nvPr/>
        </p:nvSpPr>
        <p:spPr>
          <a:xfrm>
            <a:off x="7410450" y="33432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Trusted records</a:t>
            </a:r>
          </a:p>
        </p:txBody>
      </p:sp>
      <p:sp>
        <p:nvSpPr>
          <p:cNvPr id="32" name="overview-connector-4">
            <a:extLst>
              <a:ext uri="{FF2B5EF4-FFF2-40B4-BE49-F238E27FC236}">
                <a16:creationId xmlns:a16="http://schemas.microsoft.com/office/drawing/2014/main" id="{EE19F030-1902-4FE5-AA87-29C71E1EA646}"/>
              </a:ext>
            </a:extLst>
          </p:cNvPr>
          <p:cNvSpPr>
            <a:spLocks noGrp="1"/>
          </p:cNvSpPr>
          <p:nvPr/>
        </p:nvSpPr>
        <p:spPr>
          <a:xfrm>
            <a:off x="7029450" y="3714750"/>
            <a:ext cx="190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erview-connector-4-end">
            <a:extLst>
              <a:ext uri="{FF2B5EF4-FFF2-40B4-BE49-F238E27FC236}">
                <a16:creationId xmlns:a16="http://schemas.microsoft.com/office/drawing/2014/main" id="{077226E1-E8DD-4E01-94C1-285FB586E5AE}"/>
              </a:ext>
            </a:extLst>
          </p:cNvPr>
          <p:cNvSpPr>
            <a:spLocks noGrp="1"/>
          </p:cNvSpPr>
          <p:nvPr/>
        </p:nvSpPr>
        <p:spPr>
          <a:xfrm>
            <a:off x="7010400" y="3686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erview-5">
            <a:extLst>
              <a:ext uri="{FF2B5EF4-FFF2-40B4-BE49-F238E27FC236}">
                <a16:creationId xmlns:a16="http://schemas.microsoft.com/office/drawing/2014/main" id="{134403DD-F931-4E05-A219-DDD463E28C18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3429000" cy="476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erview-5-marker">
            <a:extLst>
              <a:ext uri="{FF2B5EF4-FFF2-40B4-BE49-F238E27FC236}">
                <a16:creationId xmlns:a16="http://schemas.microsoft.com/office/drawing/2014/main" id="{236B10ED-A8D1-4B62-98EC-1432E644CA71}"/>
              </a:ext>
            </a:extLst>
          </p:cNvPr>
          <p:cNvSpPr>
            <a:spLocks noGrp="1"/>
          </p:cNvSpPr>
          <p:nvPr/>
        </p:nvSpPr>
        <p:spPr>
          <a:xfrm>
            <a:off x="7010400" y="40576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2019E7-D0FA-4E05-AC9F-26583BAB6FBA}"/>
              </a:ext>
            </a:extLst>
          </p:cNvPr>
          <p:cNvSpPr>
            <a:spLocks noGrp="1"/>
          </p:cNvSpPr>
          <p:nvPr/>
        </p:nvSpPr>
        <p:spPr>
          <a:xfrm>
            <a:off x="7010400" y="4095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06E64A-148D-400B-9761-820072B07894}"/>
              </a:ext>
            </a:extLst>
          </p:cNvPr>
          <p:cNvSpPr>
            <a:spLocks noGrp="1"/>
          </p:cNvSpPr>
          <p:nvPr/>
        </p:nvSpPr>
        <p:spPr>
          <a:xfrm>
            <a:off x="7410450" y="40290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Human decision</a:t>
            </a:r>
          </a:p>
        </p:txBody>
      </p:sp>
      <p:sp>
        <p:nvSpPr>
          <p:cNvPr id="38" name="overview-connector-5">
            <a:extLst>
              <a:ext uri="{FF2B5EF4-FFF2-40B4-BE49-F238E27FC236}">
                <a16:creationId xmlns:a16="http://schemas.microsoft.com/office/drawing/2014/main" id="{75B1EEF9-F899-4DB1-A077-3A4BE66BAF92}"/>
              </a:ext>
            </a:extLst>
          </p:cNvPr>
          <p:cNvSpPr>
            <a:spLocks noGrp="1"/>
          </p:cNvSpPr>
          <p:nvPr/>
        </p:nvSpPr>
        <p:spPr>
          <a:xfrm>
            <a:off x="7029450" y="4400550"/>
            <a:ext cx="190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erview-connector-5-end">
            <a:extLst>
              <a:ext uri="{FF2B5EF4-FFF2-40B4-BE49-F238E27FC236}">
                <a16:creationId xmlns:a16="http://schemas.microsoft.com/office/drawing/2014/main" id="{280599F6-D461-4699-AD03-D340A12D7296}"/>
              </a:ext>
            </a:extLst>
          </p:cNvPr>
          <p:cNvSpPr>
            <a:spLocks noGrp="1"/>
          </p:cNvSpPr>
          <p:nvPr/>
        </p:nvSpPr>
        <p:spPr>
          <a:xfrm>
            <a:off x="7010400" y="43719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erview-6">
            <a:extLst>
              <a:ext uri="{FF2B5EF4-FFF2-40B4-BE49-F238E27FC236}">
                <a16:creationId xmlns:a16="http://schemas.microsoft.com/office/drawing/2014/main" id="{70963CED-D4E9-4BEF-97E0-C03D58779847}"/>
              </a:ext>
            </a:extLst>
          </p:cNvPr>
          <p:cNvSpPr>
            <a:spLocks noGrp="1"/>
          </p:cNvSpPr>
          <p:nvPr/>
        </p:nvSpPr>
        <p:spPr>
          <a:xfrm>
            <a:off x="6858000" y="4591050"/>
            <a:ext cx="3429000" cy="476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erview-6-marker">
            <a:extLst>
              <a:ext uri="{FF2B5EF4-FFF2-40B4-BE49-F238E27FC236}">
                <a16:creationId xmlns:a16="http://schemas.microsoft.com/office/drawing/2014/main" id="{60E7AB59-2372-42BE-8ACC-4D5CFEB71FB2}"/>
              </a:ext>
            </a:extLst>
          </p:cNvPr>
          <p:cNvSpPr>
            <a:spLocks noGrp="1"/>
          </p:cNvSpPr>
          <p:nvPr/>
        </p:nvSpPr>
        <p:spPr>
          <a:xfrm>
            <a:off x="7010400" y="47434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6E55AD-FEDB-4AEE-B856-D6BE1480CF5E}"/>
              </a:ext>
            </a:extLst>
          </p:cNvPr>
          <p:cNvSpPr>
            <a:spLocks noGrp="1"/>
          </p:cNvSpPr>
          <p:nvPr/>
        </p:nvSpPr>
        <p:spPr>
          <a:xfrm>
            <a:off x="7010400" y="47815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60429C-C70C-445B-8908-575A1BD52ECD}"/>
              </a:ext>
            </a:extLst>
          </p:cNvPr>
          <p:cNvSpPr>
            <a:spLocks noGrp="1"/>
          </p:cNvSpPr>
          <p:nvPr/>
        </p:nvSpPr>
        <p:spPr>
          <a:xfrm>
            <a:off x="7410450" y="47148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Operational reports</a:t>
            </a:r>
          </a:p>
        </p:txBody>
      </p:sp>
      <p:sp>
        <p:nvSpPr>
          <p:cNvPr id="47" name="footer-rule">
            <a:extLst>
              <a:ext uri="{FF2B5EF4-FFF2-40B4-BE49-F238E27FC236}">
                <a16:creationId xmlns:a16="http://schemas.microsoft.com/office/drawing/2014/main" id="{FE28DC03-2C28-492E-AA53-B8A891A637FE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71F0BE4-80B9-4C82-B8B0-101891A6BC3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endParaRPr sz="675" b="0" dirty="0">
              <a:solidFill>
                <a:srgbClr val="73809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32BEB4-49A9-4A62-AC54-BD2CF6E5DB31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331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-background">
            <a:extLst>
              <a:ext uri="{FF2B5EF4-FFF2-40B4-BE49-F238E27FC236}">
                <a16:creationId xmlns:a16="http://schemas.microsoft.com/office/drawing/2014/main" id="{67DB91C5-9507-4F6D-BE6F-C6919AD7D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086CC89E-35FF-474F-9260-57C086DE83A4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A1F75322-0F11-4B44-8507-4AE5335DC6D8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01 | AUTHENTICATION</a:t>
            </a:r>
          </a:p>
        </p:txBody>
      </p:sp>
      <p:sp>
        <p:nvSpPr>
          <p:cNvPr id="4" name="claim-2">
            <a:extLst>
              <a:ext uri="{FF2B5EF4-FFF2-40B4-BE49-F238E27FC236}">
                <a16:creationId xmlns:a16="http://schemas.microsoft.com/office/drawing/2014/main" id="{3A5AA828-ED8B-4C85-8A4D-5EEFF21A5AC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One governed entry point controls every user 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F216B-9A24-4EDB-871C-705FEE191C95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SENTINEL first establishes identity, account status, and consent before opening protected workspaces.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5755D0CE-B371-48AA-A712-1EB858274925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USER ENTRY">
            <a:extLst>
              <a:ext uri="{FF2B5EF4-FFF2-40B4-BE49-F238E27FC236}">
                <a16:creationId xmlns:a16="http://schemas.microsoft.com/office/drawing/2014/main" id="{8974C4E1-FCEA-490C-AF23-15EE2CD7EE8E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1047750" cy="228600"/>
          </a:xfrm>
          <a:prstGeom prst="rect">
            <a:avLst/>
          </a:prstGeom>
          <a:solidFill>
            <a:srgbClr val="44C8E8">
              <a:alpha val="13333"/>
            </a:srgbClr>
          </a:solidFill>
          <a:ln w="9525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9A610-563D-4EBA-9F70-B539B0592D90}"/>
              </a:ext>
            </a:extLst>
          </p:cNvPr>
          <p:cNvSpPr>
            <a:spLocks noGrp="1"/>
          </p:cNvSpPr>
          <p:nvPr/>
        </p:nvSpPr>
        <p:spPr>
          <a:xfrm>
            <a:off x="666750" y="221932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USER ENTRY</a:t>
            </a:r>
          </a:p>
        </p:txBody>
      </p:sp>
      <p:sp>
        <p:nvSpPr>
          <p:cNvPr id="9" name="auth-1">
            <a:extLst>
              <a:ext uri="{FF2B5EF4-FFF2-40B4-BE49-F238E27FC236}">
                <a16:creationId xmlns:a16="http://schemas.microsoft.com/office/drawing/2014/main" id="{B50A84A7-FE6A-443C-812A-16773079DD94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409700" cy="895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h-1-marker">
            <a:extLst>
              <a:ext uri="{FF2B5EF4-FFF2-40B4-BE49-F238E27FC236}">
                <a16:creationId xmlns:a16="http://schemas.microsoft.com/office/drawing/2014/main" id="{15216977-F8E0-4901-B16F-D1A88D260209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5BAAB-1ABB-4FE8-9C94-511FDDC7299F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D3C96-511D-44E3-BE18-C263699F6943}"/>
              </a:ext>
            </a:extLst>
          </p:cNvPr>
          <p:cNvSpPr>
            <a:spLocks noGrp="1"/>
          </p:cNvSpPr>
          <p:nvPr/>
        </p:nvSpPr>
        <p:spPr>
          <a:xfrm>
            <a:off x="112395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Open app</a:t>
            </a:r>
          </a:p>
        </p:txBody>
      </p:sp>
      <p:sp>
        <p:nvSpPr>
          <p:cNvPr id="13" name="auth-connector-1">
            <a:extLst>
              <a:ext uri="{FF2B5EF4-FFF2-40B4-BE49-F238E27FC236}">
                <a16:creationId xmlns:a16="http://schemas.microsoft.com/office/drawing/2014/main" id="{D506BF8A-AD89-48DE-9B43-FBDC87400281}"/>
              </a:ext>
            </a:extLst>
          </p:cNvPr>
          <p:cNvSpPr>
            <a:spLocks noGrp="1"/>
          </p:cNvSpPr>
          <p:nvPr/>
        </p:nvSpPr>
        <p:spPr>
          <a:xfrm>
            <a:off x="2000250" y="3305175"/>
            <a:ext cx="2095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h-connector-1-end">
            <a:extLst>
              <a:ext uri="{FF2B5EF4-FFF2-40B4-BE49-F238E27FC236}">
                <a16:creationId xmlns:a16="http://schemas.microsoft.com/office/drawing/2014/main" id="{20673211-F722-4E91-A94E-43DCF661532D}"/>
              </a:ext>
            </a:extLst>
          </p:cNvPr>
          <p:cNvSpPr>
            <a:spLocks noGrp="1"/>
          </p:cNvSpPr>
          <p:nvPr/>
        </p:nvSpPr>
        <p:spPr>
          <a:xfrm>
            <a:off x="2171700" y="3276600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h-2">
            <a:extLst>
              <a:ext uri="{FF2B5EF4-FFF2-40B4-BE49-F238E27FC236}">
                <a16:creationId xmlns:a16="http://schemas.microsoft.com/office/drawing/2014/main" id="{36427D6E-6A5D-4F0D-BC92-4CFFFCDDAF86}"/>
              </a:ext>
            </a:extLst>
          </p:cNvPr>
          <p:cNvSpPr>
            <a:spLocks noGrp="1"/>
          </p:cNvSpPr>
          <p:nvPr/>
        </p:nvSpPr>
        <p:spPr>
          <a:xfrm>
            <a:off x="2228850" y="2857500"/>
            <a:ext cx="1409700" cy="895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h-2-marker">
            <a:extLst>
              <a:ext uri="{FF2B5EF4-FFF2-40B4-BE49-F238E27FC236}">
                <a16:creationId xmlns:a16="http://schemas.microsoft.com/office/drawing/2014/main" id="{9198A2A7-D847-475D-9610-DCC28220E94A}"/>
              </a:ext>
            </a:extLst>
          </p:cNvPr>
          <p:cNvSpPr>
            <a:spLocks noGrp="1"/>
          </p:cNvSpPr>
          <p:nvPr/>
        </p:nvSpPr>
        <p:spPr>
          <a:xfrm>
            <a:off x="2381250" y="30099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4D1792-D924-463E-B188-70E90F2C1126}"/>
              </a:ext>
            </a:extLst>
          </p:cNvPr>
          <p:cNvSpPr>
            <a:spLocks noGrp="1"/>
          </p:cNvSpPr>
          <p:nvPr/>
        </p:nvSpPr>
        <p:spPr>
          <a:xfrm>
            <a:off x="23812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CF862D-E391-4241-AC40-AA3A0DFB5E02}"/>
              </a:ext>
            </a:extLst>
          </p:cNvPr>
          <p:cNvSpPr>
            <a:spLocks noGrp="1"/>
          </p:cNvSpPr>
          <p:nvPr/>
        </p:nvSpPr>
        <p:spPr>
          <a:xfrm>
            <a:off x="278130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Enter identifier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and password</a:t>
            </a:r>
          </a:p>
        </p:txBody>
      </p:sp>
      <p:sp>
        <p:nvSpPr>
          <p:cNvPr id="19" name="auth-connector-2">
            <a:extLst>
              <a:ext uri="{FF2B5EF4-FFF2-40B4-BE49-F238E27FC236}">
                <a16:creationId xmlns:a16="http://schemas.microsoft.com/office/drawing/2014/main" id="{1719EC31-5466-4555-B98D-86286CA2E41F}"/>
              </a:ext>
            </a:extLst>
          </p:cNvPr>
          <p:cNvSpPr>
            <a:spLocks noGrp="1"/>
          </p:cNvSpPr>
          <p:nvPr/>
        </p:nvSpPr>
        <p:spPr>
          <a:xfrm>
            <a:off x="3657600" y="3305175"/>
            <a:ext cx="2095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h-connector-2-end">
            <a:extLst>
              <a:ext uri="{FF2B5EF4-FFF2-40B4-BE49-F238E27FC236}">
                <a16:creationId xmlns:a16="http://schemas.microsoft.com/office/drawing/2014/main" id="{B27CB24D-355F-4278-A8FC-46FD840C5B25}"/>
              </a:ext>
            </a:extLst>
          </p:cNvPr>
          <p:cNvSpPr>
            <a:spLocks noGrp="1"/>
          </p:cNvSpPr>
          <p:nvPr/>
        </p:nvSpPr>
        <p:spPr>
          <a:xfrm>
            <a:off x="3829050" y="3276600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h-3">
            <a:extLst>
              <a:ext uri="{FF2B5EF4-FFF2-40B4-BE49-F238E27FC236}">
                <a16:creationId xmlns:a16="http://schemas.microsoft.com/office/drawing/2014/main" id="{77434E68-D3F6-4049-829F-A9772C2486E2}"/>
              </a:ext>
            </a:extLst>
          </p:cNvPr>
          <p:cNvSpPr>
            <a:spLocks noGrp="1"/>
          </p:cNvSpPr>
          <p:nvPr/>
        </p:nvSpPr>
        <p:spPr>
          <a:xfrm>
            <a:off x="3886200" y="2857500"/>
            <a:ext cx="1409700" cy="895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h-3-marker">
            <a:extLst>
              <a:ext uri="{FF2B5EF4-FFF2-40B4-BE49-F238E27FC236}">
                <a16:creationId xmlns:a16="http://schemas.microsoft.com/office/drawing/2014/main" id="{3BE3E6C8-7916-461D-A0FA-41FDC757577D}"/>
              </a:ext>
            </a:extLst>
          </p:cNvPr>
          <p:cNvSpPr>
            <a:spLocks noGrp="1"/>
          </p:cNvSpPr>
          <p:nvPr/>
        </p:nvSpPr>
        <p:spPr>
          <a:xfrm>
            <a:off x="403860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1AC17E-F07F-447E-92B5-BEAC543F02A0}"/>
              </a:ext>
            </a:extLst>
          </p:cNvPr>
          <p:cNvSpPr>
            <a:spLocks noGrp="1"/>
          </p:cNvSpPr>
          <p:nvPr/>
        </p:nvSpPr>
        <p:spPr>
          <a:xfrm>
            <a:off x="40386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F139B4-2B51-4784-8049-54F7A288CF71}"/>
              </a:ext>
            </a:extLst>
          </p:cNvPr>
          <p:cNvSpPr>
            <a:spLocks noGrp="1"/>
          </p:cNvSpPr>
          <p:nvPr/>
        </p:nvSpPr>
        <p:spPr>
          <a:xfrm>
            <a:off x="443865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Verify account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5" name="auth-connector-3">
            <a:extLst>
              <a:ext uri="{FF2B5EF4-FFF2-40B4-BE49-F238E27FC236}">
                <a16:creationId xmlns:a16="http://schemas.microsoft.com/office/drawing/2014/main" id="{EFB9D17B-7698-45AA-BB37-0F5998CDF042}"/>
              </a:ext>
            </a:extLst>
          </p:cNvPr>
          <p:cNvSpPr>
            <a:spLocks noGrp="1"/>
          </p:cNvSpPr>
          <p:nvPr/>
        </p:nvSpPr>
        <p:spPr>
          <a:xfrm>
            <a:off x="5314950" y="3305175"/>
            <a:ext cx="2095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h-connector-3-end">
            <a:extLst>
              <a:ext uri="{FF2B5EF4-FFF2-40B4-BE49-F238E27FC236}">
                <a16:creationId xmlns:a16="http://schemas.microsoft.com/office/drawing/2014/main" id="{B6648D8B-04E1-400B-98C8-7A29F737B4B2}"/>
              </a:ext>
            </a:extLst>
          </p:cNvPr>
          <p:cNvSpPr>
            <a:spLocks noGrp="1"/>
          </p:cNvSpPr>
          <p:nvPr/>
        </p:nvSpPr>
        <p:spPr>
          <a:xfrm>
            <a:off x="5486400" y="3276600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h-4">
            <a:extLst>
              <a:ext uri="{FF2B5EF4-FFF2-40B4-BE49-F238E27FC236}">
                <a16:creationId xmlns:a16="http://schemas.microsoft.com/office/drawing/2014/main" id="{1AF665B4-D697-47FC-997E-F596FB122625}"/>
              </a:ext>
            </a:extLst>
          </p:cNvPr>
          <p:cNvSpPr>
            <a:spLocks noGrp="1"/>
          </p:cNvSpPr>
          <p:nvPr/>
        </p:nvSpPr>
        <p:spPr>
          <a:xfrm>
            <a:off x="5543550" y="2857500"/>
            <a:ext cx="1409700" cy="895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h-4-marker">
            <a:extLst>
              <a:ext uri="{FF2B5EF4-FFF2-40B4-BE49-F238E27FC236}">
                <a16:creationId xmlns:a16="http://schemas.microsoft.com/office/drawing/2014/main" id="{8BCB6569-88F1-4100-8DC5-294CF1062BF7}"/>
              </a:ext>
            </a:extLst>
          </p:cNvPr>
          <p:cNvSpPr>
            <a:spLocks noGrp="1"/>
          </p:cNvSpPr>
          <p:nvPr/>
        </p:nvSpPr>
        <p:spPr>
          <a:xfrm>
            <a:off x="5695950" y="30099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E56D6C-3BBA-478F-B947-6CFB5E22EB97}"/>
              </a:ext>
            </a:extLst>
          </p:cNvPr>
          <p:cNvSpPr>
            <a:spLocks noGrp="1"/>
          </p:cNvSpPr>
          <p:nvPr/>
        </p:nvSpPr>
        <p:spPr>
          <a:xfrm>
            <a:off x="56959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BD270D-B7AD-4322-88F0-F34C395587BA}"/>
              </a:ext>
            </a:extLst>
          </p:cNvPr>
          <p:cNvSpPr>
            <a:spLocks noGrp="1"/>
          </p:cNvSpPr>
          <p:nvPr/>
        </p:nvSpPr>
        <p:spPr>
          <a:xfrm>
            <a:off x="609600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Issue access +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refresh tokens</a:t>
            </a:r>
          </a:p>
        </p:txBody>
      </p:sp>
      <p:sp>
        <p:nvSpPr>
          <p:cNvPr id="31" name="auth-connector-4">
            <a:extLst>
              <a:ext uri="{FF2B5EF4-FFF2-40B4-BE49-F238E27FC236}">
                <a16:creationId xmlns:a16="http://schemas.microsoft.com/office/drawing/2014/main" id="{698A160F-C8B1-4E1B-B49F-FAEA15C25193}"/>
              </a:ext>
            </a:extLst>
          </p:cNvPr>
          <p:cNvSpPr>
            <a:spLocks noGrp="1"/>
          </p:cNvSpPr>
          <p:nvPr/>
        </p:nvSpPr>
        <p:spPr>
          <a:xfrm>
            <a:off x="6972300" y="3305175"/>
            <a:ext cx="2095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h-connector-4-end">
            <a:extLst>
              <a:ext uri="{FF2B5EF4-FFF2-40B4-BE49-F238E27FC236}">
                <a16:creationId xmlns:a16="http://schemas.microsoft.com/office/drawing/2014/main" id="{34F7CD2E-0E2E-4600-9B7F-32ADC78DAA41}"/>
              </a:ext>
            </a:extLst>
          </p:cNvPr>
          <p:cNvSpPr>
            <a:spLocks noGrp="1"/>
          </p:cNvSpPr>
          <p:nvPr/>
        </p:nvSpPr>
        <p:spPr>
          <a:xfrm>
            <a:off x="7143750" y="3276600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h-5">
            <a:extLst>
              <a:ext uri="{FF2B5EF4-FFF2-40B4-BE49-F238E27FC236}">
                <a16:creationId xmlns:a16="http://schemas.microsoft.com/office/drawing/2014/main" id="{6B1235F4-359F-49F1-8172-46DC0FC11F29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1409700" cy="895350"/>
          </a:xfrm>
          <a:prstGeom prst="rect">
            <a:avLst/>
          </a:prstGeom>
          <a:solidFill>
            <a:srgbClr val="2A2417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h-5-marker">
            <a:extLst>
              <a:ext uri="{FF2B5EF4-FFF2-40B4-BE49-F238E27FC236}">
                <a16:creationId xmlns:a16="http://schemas.microsoft.com/office/drawing/2014/main" id="{750ECF99-5204-405F-8814-2EC072FE8CBC}"/>
              </a:ext>
            </a:extLst>
          </p:cNvPr>
          <p:cNvSpPr>
            <a:spLocks noGrp="1"/>
          </p:cNvSpPr>
          <p:nvPr/>
        </p:nvSpPr>
        <p:spPr>
          <a:xfrm>
            <a:off x="735330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7DDC35-193B-4A03-B9D0-5FFF3CA4886F}"/>
              </a:ext>
            </a:extLst>
          </p:cNvPr>
          <p:cNvSpPr>
            <a:spLocks noGrp="1"/>
          </p:cNvSpPr>
          <p:nvPr/>
        </p:nvSpPr>
        <p:spPr>
          <a:xfrm>
            <a:off x="73533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315E53-C1F9-4025-964C-C7CB60D50644}"/>
              </a:ext>
            </a:extLst>
          </p:cNvPr>
          <p:cNvSpPr>
            <a:spLocks noGrp="1"/>
          </p:cNvSpPr>
          <p:nvPr/>
        </p:nvSpPr>
        <p:spPr>
          <a:xfrm>
            <a:off x="775335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Check legal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37" name="auth-connector-5">
            <a:extLst>
              <a:ext uri="{FF2B5EF4-FFF2-40B4-BE49-F238E27FC236}">
                <a16:creationId xmlns:a16="http://schemas.microsoft.com/office/drawing/2014/main" id="{7E029418-1872-4D10-889B-9C236415A52E}"/>
              </a:ext>
            </a:extLst>
          </p:cNvPr>
          <p:cNvSpPr>
            <a:spLocks noGrp="1"/>
          </p:cNvSpPr>
          <p:nvPr/>
        </p:nvSpPr>
        <p:spPr>
          <a:xfrm>
            <a:off x="8629650" y="3305175"/>
            <a:ext cx="2095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h-connector-5-end">
            <a:extLst>
              <a:ext uri="{FF2B5EF4-FFF2-40B4-BE49-F238E27FC236}">
                <a16:creationId xmlns:a16="http://schemas.microsoft.com/office/drawing/2014/main" id="{77F61DF1-7A1E-4CC3-94EE-DA2ABE616C0B}"/>
              </a:ext>
            </a:extLst>
          </p:cNvPr>
          <p:cNvSpPr>
            <a:spLocks noGrp="1"/>
          </p:cNvSpPr>
          <p:nvPr/>
        </p:nvSpPr>
        <p:spPr>
          <a:xfrm>
            <a:off x="8801100" y="3276600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h-6">
            <a:extLst>
              <a:ext uri="{FF2B5EF4-FFF2-40B4-BE49-F238E27FC236}">
                <a16:creationId xmlns:a16="http://schemas.microsoft.com/office/drawing/2014/main" id="{9029A593-5BE4-4BE2-A6AC-F8D82726275B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1409700" cy="895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h-6-marker">
            <a:extLst>
              <a:ext uri="{FF2B5EF4-FFF2-40B4-BE49-F238E27FC236}">
                <a16:creationId xmlns:a16="http://schemas.microsoft.com/office/drawing/2014/main" id="{99CB0F53-9719-4630-91C1-F7533F495177}"/>
              </a:ext>
            </a:extLst>
          </p:cNvPr>
          <p:cNvSpPr>
            <a:spLocks noGrp="1"/>
          </p:cNvSpPr>
          <p:nvPr/>
        </p:nvSpPr>
        <p:spPr>
          <a:xfrm>
            <a:off x="9010650" y="30099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A91C86-917C-4C04-9CED-EF81735A580F}"/>
              </a:ext>
            </a:extLst>
          </p:cNvPr>
          <p:cNvSpPr>
            <a:spLocks noGrp="1"/>
          </p:cNvSpPr>
          <p:nvPr/>
        </p:nvSpPr>
        <p:spPr>
          <a:xfrm>
            <a:off x="90106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75EE9D-B37F-4DDA-B8CB-C422AC0DC80F}"/>
              </a:ext>
            </a:extLst>
          </p:cNvPr>
          <p:cNvSpPr>
            <a:spLocks noGrp="1"/>
          </p:cNvSpPr>
          <p:nvPr/>
        </p:nvSpPr>
        <p:spPr>
          <a:xfrm>
            <a:off x="9410700" y="2981325"/>
            <a:ext cx="723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Open dashboard</a:t>
            </a:r>
          </a:p>
        </p:txBody>
      </p:sp>
      <p:sp>
        <p:nvSpPr>
          <p:cNvPr id="43" name="auth-api-boundary">
            <a:extLst>
              <a:ext uri="{FF2B5EF4-FFF2-40B4-BE49-F238E27FC236}">
                <a16:creationId xmlns:a16="http://schemas.microsoft.com/office/drawing/2014/main" id="{F0E45739-CBE3-4910-A6ED-5A14535C88DA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7810500" cy="990600"/>
          </a:xfrm>
          <a:prstGeom prst="rect">
            <a:avLst/>
          </a:prstGeom>
          <a:solidFill>
            <a:srgbClr val="101D31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DDFA4F-132E-4765-A262-5DA78F0612AF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SERVER CHECKS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78558D-4A55-44CE-A06F-591DE03AAB8C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714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Credentials  |  verified account  |  approved account  |  legal consent</a:t>
            </a:r>
          </a:p>
        </p:txBody>
      </p:sp>
      <p:sp>
        <p:nvSpPr>
          <p:cNvPr id="46" name="note-Adviser point">
            <a:extLst>
              <a:ext uri="{FF2B5EF4-FFF2-40B4-BE49-F238E27FC236}">
                <a16:creationId xmlns:a16="http://schemas.microsoft.com/office/drawing/2014/main" id="{3D048102-3076-49CC-919F-83AE797060DD}"/>
              </a:ext>
            </a:extLst>
          </p:cNvPr>
          <p:cNvSpPr>
            <a:spLocks noGrp="1"/>
          </p:cNvSpPr>
          <p:nvPr/>
        </p:nvSpPr>
        <p:spPr>
          <a:xfrm>
            <a:off x="8763000" y="4267200"/>
            <a:ext cx="2857500" cy="1200150"/>
          </a:xfrm>
          <a:prstGeom prst="rect">
            <a:avLst/>
          </a:prstGeom>
          <a:solidFill>
            <a:srgbClr val="16233A"/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75382A-B0B0-42C2-AE24-6FDAA9492862}"/>
              </a:ext>
            </a:extLst>
          </p:cNvPr>
          <p:cNvSpPr>
            <a:spLocks noGrp="1"/>
          </p:cNvSpPr>
          <p:nvPr/>
        </p:nvSpPr>
        <p:spPr>
          <a:xfrm>
            <a:off x="8934450" y="44386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6C3C9A9-CA5D-4F4D-846E-6211B71A4412}"/>
              </a:ext>
            </a:extLst>
          </p:cNvPr>
          <p:cNvSpPr>
            <a:spLocks noGrp="1"/>
          </p:cNvSpPr>
          <p:nvPr/>
        </p:nvSpPr>
        <p:spPr>
          <a:xfrm>
            <a:off x="8934450" y="4762500"/>
            <a:ext cx="2514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 dashboard is not granted by the frontend alone. The backend checks the same identity and permission rules on every protected request.</a:t>
            </a:r>
          </a:p>
        </p:txBody>
      </p:sp>
      <p:sp>
        <p:nvSpPr>
          <p:cNvPr id="49" name="footer-rule">
            <a:extLst>
              <a:ext uri="{FF2B5EF4-FFF2-40B4-BE49-F238E27FC236}">
                <a16:creationId xmlns:a16="http://schemas.microsoft.com/office/drawing/2014/main" id="{F70CE63A-1A71-4C07-BEFA-872999BA7A7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BC353D-940C-4658-B7FF-5F8C7C70284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authentication and consent flow in SYSTEM_FLOW_DIAGRAMS.md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AD0EA9-98BB-4A8D-AAC5-923055163CC7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628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-background">
            <a:extLst>
              <a:ext uri="{FF2B5EF4-FFF2-40B4-BE49-F238E27FC236}">
                <a16:creationId xmlns:a16="http://schemas.microsoft.com/office/drawing/2014/main" id="{CA7AB957-597F-4148-A813-8B55DE6383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B9551F98-A4BC-4202-987C-FB2C6AAFB8A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21683DCC-1E03-4BF0-8FC6-91A79E7F362B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02 | ROLE ROUTING</a:t>
            </a:r>
          </a:p>
        </p:txBody>
      </p:sp>
      <p:sp>
        <p:nvSpPr>
          <p:cNvPr id="4" name="claim-3">
            <a:extLst>
              <a:ext uri="{FF2B5EF4-FFF2-40B4-BE49-F238E27FC236}">
                <a16:creationId xmlns:a16="http://schemas.microsoft.com/office/drawing/2014/main" id="{E532A7A4-8136-46E0-8BA4-BE8066C4AAA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Authentication determines the user's operational workspace.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2DB75B-19FA-489D-865A-F91B3CC552CE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One account model leads to different tools, responsibilities, and data visibility.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C431D939-0210-4AFC-9301-EE0F9ACF604F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le-entry">
            <a:extLst>
              <a:ext uri="{FF2B5EF4-FFF2-40B4-BE49-F238E27FC236}">
                <a16:creationId xmlns:a16="http://schemas.microsoft.com/office/drawing/2014/main" id="{6A4A0DAE-0D5B-495B-9641-6BCF22B08E82}"/>
              </a:ext>
            </a:extLst>
          </p:cNvPr>
          <p:cNvSpPr>
            <a:spLocks noGrp="1"/>
          </p:cNvSpPr>
          <p:nvPr/>
        </p:nvSpPr>
        <p:spPr>
          <a:xfrm>
            <a:off x="619125" y="3086100"/>
            <a:ext cx="1809750" cy="7810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le-entry-marker">
            <a:extLst>
              <a:ext uri="{FF2B5EF4-FFF2-40B4-BE49-F238E27FC236}">
                <a16:creationId xmlns:a16="http://schemas.microsoft.com/office/drawing/2014/main" id="{E4E5D458-6ABE-454C-9A46-F4F0431C1FD7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ACCF9-6136-450F-97B3-4B036A2AB3BA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28075B-674A-49DC-960D-5DBC3D4DB8D6}"/>
              </a:ext>
            </a:extLst>
          </p:cNvPr>
          <p:cNvSpPr>
            <a:spLocks noGrp="1"/>
          </p:cNvSpPr>
          <p:nvPr/>
        </p:nvSpPr>
        <p:spPr>
          <a:xfrm>
            <a:off x="1219200" y="3133725"/>
            <a:ext cx="1257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Authenticated</a:t>
            </a:r>
          </a:p>
          <a:p>
            <a:pPr algn="l">
              <a:defRPr sz="1350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F4F0E8"/>
                </a:solidFill>
                <a:latin typeface="Arial"/>
                <a:ea typeface="Arial"/>
                <a:cs typeface="Arial"/>
              </a:rPr>
              <a:t>       </a:t>
            </a:r>
            <a:r>
              <a:rPr sz="1350" b="1" dirty="0">
                <a:solidFill>
                  <a:srgbClr val="F4F0E8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role-trunk">
            <a:extLst>
              <a:ext uri="{FF2B5EF4-FFF2-40B4-BE49-F238E27FC236}">
                <a16:creationId xmlns:a16="http://schemas.microsoft.com/office/drawing/2014/main" id="{B08463DC-1D19-405F-A60F-8FFBB90C21EC}"/>
              </a:ext>
            </a:extLst>
          </p:cNvPr>
          <p:cNvSpPr>
            <a:spLocks noGrp="1"/>
          </p:cNvSpPr>
          <p:nvPr/>
        </p:nvSpPr>
        <p:spPr>
          <a:xfrm>
            <a:off x="2447925" y="3457575"/>
            <a:ext cx="87630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le-trunk-end">
            <a:extLst>
              <a:ext uri="{FF2B5EF4-FFF2-40B4-BE49-F238E27FC236}">
                <a16:creationId xmlns:a16="http://schemas.microsoft.com/office/drawing/2014/main" id="{01C63887-22EA-4882-B2F2-BB655269BCBD}"/>
              </a:ext>
            </a:extLst>
          </p:cNvPr>
          <p:cNvSpPr>
            <a:spLocks noGrp="1"/>
          </p:cNvSpPr>
          <p:nvPr/>
        </p:nvSpPr>
        <p:spPr>
          <a:xfrm>
            <a:off x="3305175" y="3438525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le-1">
            <a:extLst>
              <a:ext uri="{FF2B5EF4-FFF2-40B4-BE49-F238E27FC236}">
                <a16:creationId xmlns:a16="http://schemas.microsoft.com/office/drawing/2014/main" id="{DBF06C60-AFAB-45EC-A66E-82F603128B7F}"/>
              </a:ext>
            </a:extLst>
          </p:cNvPr>
          <p:cNvSpPr>
            <a:spLocks noGrp="1"/>
          </p:cNvSpPr>
          <p:nvPr/>
        </p:nvSpPr>
        <p:spPr>
          <a:xfrm>
            <a:off x="3886200" y="2095500"/>
            <a:ext cx="3905250" cy="781050"/>
          </a:xfrm>
          <a:prstGeom prst="rect">
            <a:avLst/>
          </a:prstGeom>
          <a:solidFill>
            <a:srgbClr val="102638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le-1-marker">
            <a:extLst>
              <a:ext uri="{FF2B5EF4-FFF2-40B4-BE49-F238E27FC236}">
                <a16:creationId xmlns:a16="http://schemas.microsoft.com/office/drawing/2014/main" id="{BB50F780-DC39-4B1D-9C2E-15A6EB760EAB}"/>
              </a:ext>
            </a:extLst>
          </p:cNvPr>
          <p:cNvSpPr>
            <a:spLocks noGrp="1"/>
          </p:cNvSpPr>
          <p:nvPr/>
        </p:nvSpPr>
        <p:spPr>
          <a:xfrm>
            <a:off x="4038600" y="22479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9CE13E-B617-46F3-8300-9286202F26D8}"/>
              </a:ext>
            </a:extLst>
          </p:cNvPr>
          <p:cNvSpPr>
            <a:spLocks noGrp="1"/>
          </p:cNvSpPr>
          <p:nvPr/>
        </p:nvSpPr>
        <p:spPr>
          <a:xfrm>
            <a:off x="4038600" y="2286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9DB5A7-C101-488D-8264-A6E0D4B6D7F7}"/>
              </a:ext>
            </a:extLst>
          </p:cNvPr>
          <p:cNvSpPr>
            <a:spLocks noGrp="1"/>
          </p:cNvSpPr>
          <p:nvPr/>
        </p:nvSpPr>
        <p:spPr>
          <a:xfrm>
            <a:off x="4438650" y="2219325"/>
            <a:ext cx="3219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Guard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Shifts, attendance,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incidents, SOS, resources</a:t>
            </a:r>
          </a:p>
        </p:txBody>
      </p:sp>
      <p:sp>
        <p:nvSpPr>
          <p:cNvPr id="20" name="role-2">
            <a:extLst>
              <a:ext uri="{FF2B5EF4-FFF2-40B4-BE49-F238E27FC236}">
                <a16:creationId xmlns:a16="http://schemas.microsoft.com/office/drawing/2014/main" id="{7EF6106F-DDA5-464A-AFA0-DFEC14B0C5FB}"/>
              </a:ext>
            </a:extLst>
          </p:cNvPr>
          <p:cNvSpPr>
            <a:spLocks noGrp="1"/>
          </p:cNvSpPr>
          <p:nvPr/>
        </p:nvSpPr>
        <p:spPr>
          <a:xfrm>
            <a:off x="3886200" y="3086100"/>
            <a:ext cx="3905250" cy="7810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le-2-marker">
            <a:extLst>
              <a:ext uri="{FF2B5EF4-FFF2-40B4-BE49-F238E27FC236}">
                <a16:creationId xmlns:a16="http://schemas.microsoft.com/office/drawing/2014/main" id="{3F853B6F-2DC0-4D81-9EAF-F6B9C0AB8597}"/>
              </a:ext>
            </a:extLst>
          </p:cNvPr>
          <p:cNvSpPr>
            <a:spLocks noGrp="1"/>
          </p:cNvSpPr>
          <p:nvPr/>
        </p:nvSpPr>
        <p:spPr>
          <a:xfrm>
            <a:off x="4038600" y="32385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C3EE94-4363-4023-A277-3CFF2CF190A0}"/>
              </a:ext>
            </a:extLst>
          </p:cNvPr>
          <p:cNvSpPr>
            <a:spLocks noGrp="1"/>
          </p:cNvSpPr>
          <p:nvPr/>
        </p:nvSpPr>
        <p:spPr>
          <a:xfrm>
            <a:off x="4038600" y="32766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44F9F1-543D-46BF-80FA-B5D252D3780A}"/>
              </a:ext>
            </a:extLst>
          </p:cNvPr>
          <p:cNvSpPr>
            <a:spLocks noGrp="1"/>
          </p:cNvSpPr>
          <p:nvPr/>
        </p:nvSpPr>
        <p:spPr>
          <a:xfrm>
            <a:off x="4438650" y="3209925"/>
            <a:ext cx="3219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Supervisor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Monitoring, incidents,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reviews, DTR, analytics</a:t>
            </a:r>
          </a:p>
        </p:txBody>
      </p:sp>
      <p:sp>
        <p:nvSpPr>
          <p:cNvPr id="25" name="role-3">
            <a:extLst>
              <a:ext uri="{FF2B5EF4-FFF2-40B4-BE49-F238E27FC236}">
                <a16:creationId xmlns:a16="http://schemas.microsoft.com/office/drawing/2014/main" id="{E32252EE-46EB-4E7A-BC61-25773F85F3AF}"/>
              </a:ext>
            </a:extLst>
          </p:cNvPr>
          <p:cNvSpPr>
            <a:spLocks noGrp="1"/>
          </p:cNvSpPr>
          <p:nvPr/>
        </p:nvSpPr>
        <p:spPr>
          <a:xfrm>
            <a:off x="3886200" y="4076700"/>
            <a:ext cx="3905250" cy="7810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le-3-marker">
            <a:extLst>
              <a:ext uri="{FF2B5EF4-FFF2-40B4-BE49-F238E27FC236}">
                <a16:creationId xmlns:a16="http://schemas.microsoft.com/office/drawing/2014/main" id="{7B6AE73C-6138-46B9-BF1A-AD0650C0A93B}"/>
              </a:ext>
            </a:extLst>
          </p:cNvPr>
          <p:cNvSpPr>
            <a:spLocks noGrp="1"/>
          </p:cNvSpPr>
          <p:nvPr/>
        </p:nvSpPr>
        <p:spPr>
          <a:xfrm>
            <a:off x="4038600" y="42291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AD57CC-722A-45D9-B22E-DA996FB3A220}"/>
              </a:ext>
            </a:extLst>
          </p:cNvPr>
          <p:cNvSpPr>
            <a:spLocks noGrp="1"/>
          </p:cNvSpPr>
          <p:nvPr/>
        </p:nvSpPr>
        <p:spPr>
          <a:xfrm>
            <a:off x="4038600" y="42672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FBC7E5-7ECD-4492-9016-24D0C8A8439D}"/>
              </a:ext>
            </a:extLst>
          </p:cNvPr>
          <p:cNvSpPr>
            <a:spLocks noGrp="1"/>
          </p:cNvSpPr>
          <p:nvPr/>
        </p:nvSpPr>
        <p:spPr>
          <a:xfrm>
            <a:off x="4438650" y="4200525"/>
            <a:ext cx="3219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Administrator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Users, firearms, vehicles,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fulfillment, reports</a:t>
            </a:r>
          </a:p>
        </p:txBody>
      </p:sp>
      <p:sp>
        <p:nvSpPr>
          <p:cNvPr id="30" name="role-4">
            <a:extLst>
              <a:ext uri="{FF2B5EF4-FFF2-40B4-BE49-F238E27FC236}">
                <a16:creationId xmlns:a16="http://schemas.microsoft.com/office/drawing/2014/main" id="{3352D41C-2113-4F93-935F-C1D756F99406}"/>
              </a:ext>
            </a:extLst>
          </p:cNvPr>
          <p:cNvSpPr>
            <a:spLocks noGrp="1"/>
          </p:cNvSpPr>
          <p:nvPr/>
        </p:nvSpPr>
        <p:spPr>
          <a:xfrm>
            <a:off x="3886200" y="5067300"/>
            <a:ext cx="3905250" cy="7810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le-4-marker">
            <a:extLst>
              <a:ext uri="{FF2B5EF4-FFF2-40B4-BE49-F238E27FC236}">
                <a16:creationId xmlns:a16="http://schemas.microsoft.com/office/drawing/2014/main" id="{E638599C-ACDC-4F0E-A2B3-CEC1F46F5CEA}"/>
              </a:ext>
            </a:extLst>
          </p:cNvPr>
          <p:cNvSpPr>
            <a:spLocks noGrp="1"/>
          </p:cNvSpPr>
          <p:nvPr/>
        </p:nvSpPr>
        <p:spPr>
          <a:xfrm>
            <a:off x="4038600" y="5219700"/>
            <a:ext cx="266700" cy="2667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DCD131-1053-4445-9B41-9F808D8C58FA}"/>
              </a:ext>
            </a:extLst>
          </p:cNvPr>
          <p:cNvSpPr>
            <a:spLocks noGrp="1"/>
          </p:cNvSpPr>
          <p:nvPr/>
        </p:nvSpPr>
        <p:spPr>
          <a:xfrm>
            <a:off x="4038600" y="52578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86BDA9-CFEB-4C58-B63E-0494F807DB44}"/>
              </a:ext>
            </a:extLst>
          </p:cNvPr>
          <p:cNvSpPr>
            <a:spLocks noGrp="1"/>
          </p:cNvSpPr>
          <p:nvPr/>
        </p:nvSpPr>
        <p:spPr>
          <a:xfrm>
            <a:off x="4438650" y="5191125"/>
            <a:ext cx="3219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Superadmin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System-wide visibility,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management, audit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607E16-76CE-421C-81F6-75868CC97AAF}"/>
              </a:ext>
            </a:extLst>
          </p:cNvPr>
          <p:cNvSpPr>
            <a:spLocks noGrp="1"/>
          </p:cNvSpPr>
          <p:nvPr/>
        </p:nvSpPr>
        <p:spPr>
          <a:xfrm>
            <a:off x="762000" y="4714875"/>
            <a:ext cx="3238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endParaRPr sz="675" b="1" dirty="0">
              <a:solidFill>
                <a:srgbClr val="F4B86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1A1F3C-FF7E-4F4B-87CE-AB6A3479F3A6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666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endParaRPr sz="1125" b="0" dirty="0">
              <a:solidFill>
                <a:srgbClr val="A7B1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note-Adviser point">
            <a:extLst>
              <a:ext uri="{FF2B5EF4-FFF2-40B4-BE49-F238E27FC236}">
                <a16:creationId xmlns:a16="http://schemas.microsoft.com/office/drawing/2014/main" id="{4D7779F9-1CB5-4F03-841D-124A28E3FA9C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3048000" cy="1676400"/>
          </a:xfrm>
          <a:prstGeom prst="rect">
            <a:avLst/>
          </a:prstGeom>
          <a:solidFill>
            <a:srgbClr val="16233A"/>
          </a:solidFill>
          <a:ln w="9525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29A982-4011-4608-AC11-0250B7DD2364}"/>
              </a:ext>
            </a:extLst>
          </p:cNvPr>
          <p:cNvSpPr>
            <a:spLocks noGrp="1"/>
          </p:cNvSpPr>
          <p:nvPr/>
        </p:nvSpPr>
        <p:spPr>
          <a:xfrm>
            <a:off x="8743950" y="23622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endParaRPr sz="750" b="1" dirty="0">
              <a:solidFill>
                <a:srgbClr val="44C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1008C3-F2DF-4C76-AB96-0FF2A6B329DE}"/>
              </a:ext>
            </a:extLst>
          </p:cNvPr>
          <p:cNvSpPr>
            <a:spLocks noGrp="1"/>
          </p:cNvSpPr>
          <p:nvPr/>
        </p:nvSpPr>
        <p:spPr>
          <a:xfrm>
            <a:off x="8743950" y="2686050"/>
            <a:ext cx="27051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7B1C2"/>
                </a:solidFill>
                <a:latin typeface="Arial"/>
                <a:ea typeface="Arial"/>
                <a:cs typeface="Arial"/>
              </a:rPr>
              <a:t>Role-based access keeps field work simple for guards while preserving command visibility and management controls for elevated roles.</a:t>
            </a:r>
          </a:p>
        </p:txBody>
      </p:sp>
      <p:sp>
        <p:nvSpPr>
          <p:cNvPr id="40" name="footer-rule">
            <a:extLst>
              <a:ext uri="{FF2B5EF4-FFF2-40B4-BE49-F238E27FC236}">
                <a16:creationId xmlns:a16="http://schemas.microsoft.com/office/drawing/2014/main" id="{29605194-616F-407E-A4AC-E87114F9AD8E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47750C-D3B2-46FF-B8DA-136B72E30648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endParaRPr sz="675" b="0" dirty="0">
              <a:solidFill>
                <a:srgbClr val="73809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82F71E-A1EE-4BBD-BCED-7746495F012C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609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-background">
            <a:extLst>
              <a:ext uri="{FF2B5EF4-FFF2-40B4-BE49-F238E27FC236}">
                <a16:creationId xmlns:a16="http://schemas.microsoft.com/office/drawing/2014/main" id="{48AD7551-FFEF-477E-A33D-5852438F1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0939965F-4AE9-4142-BC53-1F9C9C37550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DA162DA2-2552-4C42-8C3B-65FB5EC729FD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03 | PROTECTED REQUEST</a:t>
            </a:r>
          </a:p>
        </p:txBody>
      </p:sp>
      <p:sp>
        <p:nvSpPr>
          <p:cNvPr id="4" name="claim-4">
            <a:extLst>
              <a:ext uri="{FF2B5EF4-FFF2-40B4-BE49-F238E27FC236}">
                <a16:creationId xmlns:a16="http://schemas.microsoft.com/office/drawing/2014/main" id="{CE6A82AE-7B14-483C-93C1-A0DC6232000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Every protected action is checked before it touches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4321D-73C0-4357-9B28-0CC1E60575E0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The request path applies security and business controls before a handler reads or changes PostgreSQL.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6739F661-4896-4C76-A6E6-644CDA55004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urity-1">
            <a:extLst>
              <a:ext uri="{FF2B5EF4-FFF2-40B4-BE49-F238E27FC236}">
                <a16:creationId xmlns:a16="http://schemas.microsoft.com/office/drawing/2014/main" id="{4C7AC0B0-5322-498E-9E83-7A515CD43672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ecurity-1-marker">
            <a:extLst>
              <a:ext uri="{FF2B5EF4-FFF2-40B4-BE49-F238E27FC236}">
                <a16:creationId xmlns:a16="http://schemas.microsoft.com/office/drawing/2014/main" id="{C1190659-AC16-4A5E-BD42-91C03681325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4EF0F-7A73-4D90-9B02-F2097C16D8CF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B0CF4-C2B3-4780-9BEE-2D4E03AF75D6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Frontend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1" name="security-connector-1">
            <a:extLst>
              <a:ext uri="{FF2B5EF4-FFF2-40B4-BE49-F238E27FC236}">
                <a16:creationId xmlns:a16="http://schemas.microsoft.com/office/drawing/2014/main" id="{64A25A5B-DDEF-4EDC-8BE7-73A831ACE1DF}"/>
              </a:ext>
            </a:extLst>
          </p:cNvPr>
          <p:cNvSpPr>
            <a:spLocks noGrp="1"/>
          </p:cNvSpPr>
          <p:nvPr/>
        </p:nvSpPr>
        <p:spPr>
          <a:xfrm>
            <a:off x="173355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ecurity-connector-1-end">
            <a:extLst>
              <a:ext uri="{FF2B5EF4-FFF2-40B4-BE49-F238E27FC236}">
                <a16:creationId xmlns:a16="http://schemas.microsoft.com/office/drawing/2014/main" id="{DB9F6EE2-B8D6-490D-AD5B-991B2AD6703C}"/>
              </a:ext>
            </a:extLst>
          </p:cNvPr>
          <p:cNvSpPr>
            <a:spLocks noGrp="1"/>
          </p:cNvSpPr>
          <p:nvPr/>
        </p:nvSpPr>
        <p:spPr>
          <a:xfrm>
            <a:off x="18669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ecurity-2">
            <a:extLst>
              <a:ext uri="{FF2B5EF4-FFF2-40B4-BE49-F238E27FC236}">
                <a16:creationId xmlns:a16="http://schemas.microsoft.com/office/drawing/2014/main" id="{D157FC36-F3B4-4DD8-8695-42F23B9DA4C4}"/>
              </a:ext>
            </a:extLst>
          </p:cNvPr>
          <p:cNvSpPr>
            <a:spLocks noGrp="1"/>
          </p:cNvSpPr>
          <p:nvPr/>
        </p:nvSpPr>
        <p:spPr>
          <a:xfrm>
            <a:off x="194310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ecurity-2-marker">
            <a:extLst>
              <a:ext uri="{FF2B5EF4-FFF2-40B4-BE49-F238E27FC236}">
                <a16:creationId xmlns:a16="http://schemas.microsoft.com/office/drawing/2014/main" id="{6C016903-4E7F-403D-AB1E-2D6E952794F1}"/>
              </a:ext>
            </a:extLst>
          </p:cNvPr>
          <p:cNvSpPr>
            <a:spLocks noGrp="1"/>
          </p:cNvSpPr>
          <p:nvPr/>
        </p:nvSpPr>
        <p:spPr>
          <a:xfrm>
            <a:off x="2095500" y="30289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80733-3F03-4EA2-B311-61CD8AA02613}"/>
              </a:ext>
            </a:extLst>
          </p:cNvPr>
          <p:cNvSpPr>
            <a:spLocks noGrp="1"/>
          </p:cNvSpPr>
          <p:nvPr/>
        </p:nvSpPr>
        <p:spPr>
          <a:xfrm>
            <a:off x="209550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37464-E1DC-4C94-8967-E5DAFD6870AF}"/>
              </a:ext>
            </a:extLst>
          </p:cNvPr>
          <p:cNvSpPr>
            <a:spLocks noGrp="1"/>
          </p:cNvSpPr>
          <p:nvPr/>
        </p:nvSpPr>
        <p:spPr>
          <a:xfrm>
            <a:off x="249555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CORS +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17" name="security-connector-2">
            <a:extLst>
              <a:ext uri="{FF2B5EF4-FFF2-40B4-BE49-F238E27FC236}">
                <a16:creationId xmlns:a16="http://schemas.microsoft.com/office/drawing/2014/main" id="{00F5DFD2-F519-4DBA-859E-9D4067A298A9}"/>
              </a:ext>
            </a:extLst>
          </p:cNvPr>
          <p:cNvSpPr>
            <a:spLocks noGrp="1"/>
          </p:cNvSpPr>
          <p:nvPr/>
        </p:nvSpPr>
        <p:spPr>
          <a:xfrm>
            <a:off x="308610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ecurity-connector-2-end">
            <a:extLst>
              <a:ext uri="{FF2B5EF4-FFF2-40B4-BE49-F238E27FC236}">
                <a16:creationId xmlns:a16="http://schemas.microsoft.com/office/drawing/2014/main" id="{87D3AFD1-6DE6-4259-84AA-28E6BC95A467}"/>
              </a:ext>
            </a:extLst>
          </p:cNvPr>
          <p:cNvSpPr>
            <a:spLocks noGrp="1"/>
          </p:cNvSpPr>
          <p:nvPr/>
        </p:nvSpPr>
        <p:spPr>
          <a:xfrm>
            <a:off x="321945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ecurity-3">
            <a:extLst>
              <a:ext uri="{FF2B5EF4-FFF2-40B4-BE49-F238E27FC236}">
                <a16:creationId xmlns:a16="http://schemas.microsoft.com/office/drawing/2014/main" id="{32BF5DEC-A2F2-4524-A3FC-88F21CB92DE3}"/>
              </a:ext>
            </a:extLst>
          </p:cNvPr>
          <p:cNvSpPr>
            <a:spLocks noGrp="1"/>
          </p:cNvSpPr>
          <p:nvPr/>
        </p:nvSpPr>
        <p:spPr>
          <a:xfrm>
            <a:off x="329565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ecurity-3-marker">
            <a:extLst>
              <a:ext uri="{FF2B5EF4-FFF2-40B4-BE49-F238E27FC236}">
                <a16:creationId xmlns:a16="http://schemas.microsoft.com/office/drawing/2014/main" id="{719BF66A-AA4F-4C9D-AE23-EF2F37112818}"/>
              </a:ext>
            </a:extLst>
          </p:cNvPr>
          <p:cNvSpPr>
            <a:spLocks noGrp="1"/>
          </p:cNvSpPr>
          <p:nvPr/>
        </p:nvSpPr>
        <p:spPr>
          <a:xfrm>
            <a:off x="3448050" y="30289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F6324-CE05-4217-859A-DCEBBED69D7F}"/>
              </a:ext>
            </a:extLst>
          </p:cNvPr>
          <p:cNvSpPr>
            <a:spLocks noGrp="1"/>
          </p:cNvSpPr>
          <p:nvPr/>
        </p:nvSpPr>
        <p:spPr>
          <a:xfrm>
            <a:off x="344805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F5E20B-4FFA-4919-A909-47D4EC1E9B97}"/>
              </a:ext>
            </a:extLst>
          </p:cNvPr>
          <p:cNvSpPr>
            <a:spLocks noGrp="1"/>
          </p:cNvSpPr>
          <p:nvPr/>
        </p:nvSpPr>
        <p:spPr>
          <a:xfrm>
            <a:off x="384810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Rate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limiter</a:t>
            </a:r>
          </a:p>
        </p:txBody>
      </p:sp>
      <p:sp>
        <p:nvSpPr>
          <p:cNvPr id="23" name="security-connector-3">
            <a:extLst>
              <a:ext uri="{FF2B5EF4-FFF2-40B4-BE49-F238E27FC236}">
                <a16:creationId xmlns:a16="http://schemas.microsoft.com/office/drawing/2014/main" id="{4CB460DB-2763-4EB5-86AC-24EA97C432BE}"/>
              </a:ext>
            </a:extLst>
          </p:cNvPr>
          <p:cNvSpPr>
            <a:spLocks noGrp="1"/>
          </p:cNvSpPr>
          <p:nvPr/>
        </p:nvSpPr>
        <p:spPr>
          <a:xfrm>
            <a:off x="443865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ecurity-connector-3-end">
            <a:extLst>
              <a:ext uri="{FF2B5EF4-FFF2-40B4-BE49-F238E27FC236}">
                <a16:creationId xmlns:a16="http://schemas.microsoft.com/office/drawing/2014/main" id="{8CAF059D-755D-4B2A-99DB-7866D9BB36BE}"/>
              </a:ext>
            </a:extLst>
          </p:cNvPr>
          <p:cNvSpPr>
            <a:spLocks noGrp="1"/>
          </p:cNvSpPr>
          <p:nvPr/>
        </p:nvSpPr>
        <p:spPr>
          <a:xfrm>
            <a:off x="45720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ecurity-4">
            <a:extLst>
              <a:ext uri="{FF2B5EF4-FFF2-40B4-BE49-F238E27FC236}">
                <a16:creationId xmlns:a16="http://schemas.microsoft.com/office/drawing/2014/main" id="{C073E396-F107-4BEF-BDA5-5652EF55F734}"/>
              </a:ext>
            </a:extLst>
          </p:cNvPr>
          <p:cNvSpPr>
            <a:spLocks noGrp="1"/>
          </p:cNvSpPr>
          <p:nvPr/>
        </p:nvSpPr>
        <p:spPr>
          <a:xfrm>
            <a:off x="464820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ecurity-4-marker">
            <a:extLst>
              <a:ext uri="{FF2B5EF4-FFF2-40B4-BE49-F238E27FC236}">
                <a16:creationId xmlns:a16="http://schemas.microsoft.com/office/drawing/2014/main" id="{D012A2CD-CA69-479D-BEC7-D3441E358153}"/>
              </a:ext>
            </a:extLst>
          </p:cNvPr>
          <p:cNvSpPr>
            <a:spLocks noGrp="1"/>
          </p:cNvSpPr>
          <p:nvPr/>
        </p:nvSpPr>
        <p:spPr>
          <a:xfrm>
            <a:off x="4800600" y="30289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F862BD-A038-4635-B6F5-6387B71EF67C}"/>
              </a:ext>
            </a:extLst>
          </p:cNvPr>
          <p:cNvSpPr>
            <a:spLocks noGrp="1"/>
          </p:cNvSpPr>
          <p:nvPr/>
        </p:nvSpPr>
        <p:spPr>
          <a:xfrm>
            <a:off x="480060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22E2E-5B92-49C4-BF3C-EDD5E09F0935}"/>
              </a:ext>
            </a:extLst>
          </p:cNvPr>
          <p:cNvSpPr>
            <a:spLocks noGrp="1"/>
          </p:cNvSpPr>
          <p:nvPr/>
        </p:nvSpPr>
        <p:spPr>
          <a:xfrm>
            <a:off x="520065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JWT +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9" name="security-connector-4">
            <a:extLst>
              <a:ext uri="{FF2B5EF4-FFF2-40B4-BE49-F238E27FC236}">
                <a16:creationId xmlns:a16="http://schemas.microsoft.com/office/drawing/2014/main" id="{53394C54-ED67-4310-8FAF-BD2418DBD06F}"/>
              </a:ext>
            </a:extLst>
          </p:cNvPr>
          <p:cNvSpPr>
            <a:spLocks noGrp="1"/>
          </p:cNvSpPr>
          <p:nvPr/>
        </p:nvSpPr>
        <p:spPr>
          <a:xfrm>
            <a:off x="579120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ecurity-connector-4-end">
            <a:extLst>
              <a:ext uri="{FF2B5EF4-FFF2-40B4-BE49-F238E27FC236}">
                <a16:creationId xmlns:a16="http://schemas.microsoft.com/office/drawing/2014/main" id="{E2E70144-5588-48B6-B56F-4BBEE3A2D4B8}"/>
              </a:ext>
            </a:extLst>
          </p:cNvPr>
          <p:cNvSpPr>
            <a:spLocks noGrp="1"/>
          </p:cNvSpPr>
          <p:nvPr/>
        </p:nvSpPr>
        <p:spPr>
          <a:xfrm>
            <a:off x="592455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ecurity-5">
            <a:extLst>
              <a:ext uri="{FF2B5EF4-FFF2-40B4-BE49-F238E27FC236}">
                <a16:creationId xmlns:a16="http://schemas.microsoft.com/office/drawing/2014/main" id="{02BB0961-4462-450D-8D62-893D341CD1CA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ecurity-5-marker">
            <a:extLst>
              <a:ext uri="{FF2B5EF4-FFF2-40B4-BE49-F238E27FC236}">
                <a16:creationId xmlns:a16="http://schemas.microsoft.com/office/drawing/2014/main" id="{FD7327B4-A634-41B8-95AD-2E480CD3EFAD}"/>
              </a:ext>
            </a:extLst>
          </p:cNvPr>
          <p:cNvSpPr>
            <a:spLocks noGrp="1"/>
          </p:cNvSpPr>
          <p:nvPr/>
        </p:nvSpPr>
        <p:spPr>
          <a:xfrm>
            <a:off x="6153150" y="30289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D793A9-F7A6-4851-8375-CDC3B2332446}"/>
              </a:ext>
            </a:extLst>
          </p:cNvPr>
          <p:cNvSpPr>
            <a:spLocks noGrp="1"/>
          </p:cNvSpPr>
          <p:nvPr/>
        </p:nvSpPr>
        <p:spPr>
          <a:xfrm>
            <a:off x="615315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5DE6A1-7CC1-4CE8-B469-A24C5E162509}"/>
              </a:ext>
            </a:extLst>
          </p:cNvPr>
          <p:cNvSpPr>
            <a:spLocks noGrp="1"/>
          </p:cNvSpPr>
          <p:nvPr/>
        </p:nvSpPr>
        <p:spPr>
          <a:xfrm>
            <a:off x="655320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Consent +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5" name="security-connector-5">
            <a:extLst>
              <a:ext uri="{FF2B5EF4-FFF2-40B4-BE49-F238E27FC236}">
                <a16:creationId xmlns:a16="http://schemas.microsoft.com/office/drawing/2014/main" id="{F84E2719-5765-439E-B680-232618F985D3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ecurity-connector-5-end">
            <a:extLst>
              <a:ext uri="{FF2B5EF4-FFF2-40B4-BE49-F238E27FC236}">
                <a16:creationId xmlns:a16="http://schemas.microsoft.com/office/drawing/2014/main" id="{9637C10D-7280-46B1-9124-64F625ADE2BF}"/>
              </a:ext>
            </a:extLst>
          </p:cNvPr>
          <p:cNvSpPr>
            <a:spLocks noGrp="1"/>
          </p:cNvSpPr>
          <p:nvPr/>
        </p:nvSpPr>
        <p:spPr>
          <a:xfrm>
            <a:off x="72771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ecurity-6">
            <a:extLst>
              <a:ext uri="{FF2B5EF4-FFF2-40B4-BE49-F238E27FC236}">
                <a16:creationId xmlns:a16="http://schemas.microsoft.com/office/drawing/2014/main" id="{F4BE7A64-0882-4C22-AE31-9C80A7ADF64F}"/>
              </a:ext>
            </a:extLst>
          </p:cNvPr>
          <p:cNvSpPr>
            <a:spLocks noGrp="1"/>
          </p:cNvSpPr>
          <p:nvPr/>
        </p:nvSpPr>
        <p:spPr>
          <a:xfrm>
            <a:off x="7353300" y="2876550"/>
            <a:ext cx="1123950" cy="914400"/>
          </a:xfrm>
          <a:prstGeom prst="rect">
            <a:avLst/>
          </a:prstGeom>
          <a:solidFill>
            <a:srgbClr val="142B2A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ecurity-6-marker">
            <a:extLst>
              <a:ext uri="{FF2B5EF4-FFF2-40B4-BE49-F238E27FC236}">
                <a16:creationId xmlns:a16="http://schemas.microsoft.com/office/drawing/2014/main" id="{9CD68163-6270-4328-B397-82AE69F3A7BF}"/>
              </a:ext>
            </a:extLst>
          </p:cNvPr>
          <p:cNvSpPr>
            <a:spLocks noGrp="1"/>
          </p:cNvSpPr>
          <p:nvPr/>
        </p:nvSpPr>
        <p:spPr>
          <a:xfrm>
            <a:off x="7505700" y="30289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D1845E-C11F-442E-B802-DAF212410B25}"/>
              </a:ext>
            </a:extLst>
          </p:cNvPr>
          <p:cNvSpPr>
            <a:spLocks noGrp="1"/>
          </p:cNvSpPr>
          <p:nvPr/>
        </p:nvSpPr>
        <p:spPr>
          <a:xfrm>
            <a:off x="750570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926AE7-5F75-41F6-825A-1FD2BCF28927}"/>
              </a:ext>
            </a:extLst>
          </p:cNvPr>
          <p:cNvSpPr>
            <a:spLocks noGrp="1"/>
          </p:cNvSpPr>
          <p:nvPr/>
        </p:nvSpPr>
        <p:spPr>
          <a:xfrm>
            <a:off x="790575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Handler +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41" name="security-connector-6">
            <a:extLst>
              <a:ext uri="{FF2B5EF4-FFF2-40B4-BE49-F238E27FC236}">
                <a16:creationId xmlns:a16="http://schemas.microsoft.com/office/drawing/2014/main" id="{A3642EC2-680D-4303-B123-2D45A1F46CAD}"/>
              </a:ext>
            </a:extLst>
          </p:cNvPr>
          <p:cNvSpPr>
            <a:spLocks noGrp="1"/>
          </p:cNvSpPr>
          <p:nvPr/>
        </p:nvSpPr>
        <p:spPr>
          <a:xfrm>
            <a:off x="849630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ecurity-connector-6-end">
            <a:extLst>
              <a:ext uri="{FF2B5EF4-FFF2-40B4-BE49-F238E27FC236}">
                <a16:creationId xmlns:a16="http://schemas.microsoft.com/office/drawing/2014/main" id="{F7AAD28B-1138-46AD-890F-C3249B2DD523}"/>
              </a:ext>
            </a:extLst>
          </p:cNvPr>
          <p:cNvSpPr>
            <a:spLocks noGrp="1"/>
          </p:cNvSpPr>
          <p:nvPr/>
        </p:nvSpPr>
        <p:spPr>
          <a:xfrm>
            <a:off x="862965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ecurity-7">
            <a:extLst>
              <a:ext uri="{FF2B5EF4-FFF2-40B4-BE49-F238E27FC236}">
                <a16:creationId xmlns:a16="http://schemas.microsoft.com/office/drawing/2014/main" id="{F94F2967-A514-46D3-BFC0-67C2B28D2013}"/>
              </a:ext>
            </a:extLst>
          </p:cNvPr>
          <p:cNvSpPr>
            <a:spLocks noGrp="1"/>
          </p:cNvSpPr>
          <p:nvPr/>
        </p:nvSpPr>
        <p:spPr>
          <a:xfrm>
            <a:off x="870585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ecurity-7-marker">
            <a:extLst>
              <a:ext uri="{FF2B5EF4-FFF2-40B4-BE49-F238E27FC236}">
                <a16:creationId xmlns:a16="http://schemas.microsoft.com/office/drawing/2014/main" id="{12624D41-9828-4814-AA18-CFB4AFB888B2}"/>
              </a:ext>
            </a:extLst>
          </p:cNvPr>
          <p:cNvSpPr>
            <a:spLocks noGrp="1"/>
          </p:cNvSpPr>
          <p:nvPr/>
        </p:nvSpPr>
        <p:spPr>
          <a:xfrm>
            <a:off x="8858250" y="30289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51DEF2-2183-4743-AFA5-58D34300AF8E}"/>
              </a:ext>
            </a:extLst>
          </p:cNvPr>
          <p:cNvSpPr>
            <a:spLocks noGrp="1"/>
          </p:cNvSpPr>
          <p:nvPr/>
        </p:nvSpPr>
        <p:spPr>
          <a:xfrm>
            <a:off x="885825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37FE7F-79E6-4D84-98BB-8A002CB9A92E}"/>
              </a:ext>
            </a:extLst>
          </p:cNvPr>
          <p:cNvSpPr>
            <a:spLocks noGrp="1"/>
          </p:cNvSpPr>
          <p:nvPr/>
        </p:nvSpPr>
        <p:spPr>
          <a:xfrm>
            <a:off x="925830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PostgreSQL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47" name="security-connector-7">
            <a:extLst>
              <a:ext uri="{FF2B5EF4-FFF2-40B4-BE49-F238E27FC236}">
                <a16:creationId xmlns:a16="http://schemas.microsoft.com/office/drawing/2014/main" id="{2499C140-C29D-4F62-A855-D2AF76BB8879}"/>
              </a:ext>
            </a:extLst>
          </p:cNvPr>
          <p:cNvSpPr>
            <a:spLocks noGrp="1"/>
          </p:cNvSpPr>
          <p:nvPr/>
        </p:nvSpPr>
        <p:spPr>
          <a:xfrm>
            <a:off x="9848850" y="3333750"/>
            <a:ext cx="17145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ecurity-connector-7-end">
            <a:extLst>
              <a:ext uri="{FF2B5EF4-FFF2-40B4-BE49-F238E27FC236}">
                <a16:creationId xmlns:a16="http://schemas.microsoft.com/office/drawing/2014/main" id="{E23F8762-CE3A-4DA6-8F24-3D3EFE9EC5C8}"/>
              </a:ext>
            </a:extLst>
          </p:cNvPr>
          <p:cNvSpPr>
            <a:spLocks noGrp="1"/>
          </p:cNvSpPr>
          <p:nvPr/>
        </p:nvSpPr>
        <p:spPr>
          <a:xfrm>
            <a:off x="99822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ecurity-8">
            <a:extLst>
              <a:ext uri="{FF2B5EF4-FFF2-40B4-BE49-F238E27FC236}">
                <a16:creationId xmlns:a16="http://schemas.microsoft.com/office/drawing/2014/main" id="{AA6C53BB-A7AE-4856-82AC-B3024DECC4D2}"/>
              </a:ext>
            </a:extLst>
          </p:cNvPr>
          <p:cNvSpPr>
            <a:spLocks noGrp="1"/>
          </p:cNvSpPr>
          <p:nvPr/>
        </p:nvSpPr>
        <p:spPr>
          <a:xfrm>
            <a:off x="10058400" y="2876550"/>
            <a:ext cx="1123950" cy="9144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ecurity-8-marker">
            <a:extLst>
              <a:ext uri="{FF2B5EF4-FFF2-40B4-BE49-F238E27FC236}">
                <a16:creationId xmlns:a16="http://schemas.microsoft.com/office/drawing/2014/main" id="{CB45987B-3284-4DC5-A65D-187915EB3161}"/>
              </a:ext>
            </a:extLst>
          </p:cNvPr>
          <p:cNvSpPr>
            <a:spLocks noGrp="1"/>
          </p:cNvSpPr>
          <p:nvPr/>
        </p:nvSpPr>
        <p:spPr>
          <a:xfrm>
            <a:off x="10210800" y="3028950"/>
            <a:ext cx="266700" cy="2667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086DC9-8351-4593-A036-93AB7B403767}"/>
              </a:ext>
            </a:extLst>
          </p:cNvPr>
          <p:cNvSpPr>
            <a:spLocks noGrp="1"/>
          </p:cNvSpPr>
          <p:nvPr/>
        </p:nvSpPr>
        <p:spPr>
          <a:xfrm>
            <a:off x="10210800" y="30670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410AC8-E867-4BB3-B4A0-9C30D3F53A16}"/>
              </a:ext>
            </a:extLst>
          </p:cNvPr>
          <p:cNvSpPr>
            <a:spLocks noGrp="1"/>
          </p:cNvSpPr>
          <p:nvPr/>
        </p:nvSpPr>
        <p:spPr>
          <a:xfrm>
            <a:off x="10610850" y="3000375"/>
            <a:ext cx="438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JSON response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+ audit</a:t>
            </a:r>
          </a:p>
        </p:txBody>
      </p:sp>
      <p:sp>
        <p:nvSpPr>
          <p:cNvPr id="53" name="security-boundary">
            <a:extLst>
              <a:ext uri="{FF2B5EF4-FFF2-40B4-BE49-F238E27FC236}">
                <a16:creationId xmlns:a16="http://schemas.microsoft.com/office/drawing/2014/main" id="{474F1A2A-DDC4-4C9D-9129-79F440E8E573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7905750" cy="895350"/>
          </a:xfrm>
          <a:prstGeom prst="rect">
            <a:avLst/>
          </a:prstGeom>
          <a:solidFill>
            <a:srgbClr val="101D31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016BC12-20E1-4491-9FCB-31EB41D6F624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18A8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18A82"/>
                </a:solidFill>
                <a:latin typeface="Courier New"/>
                <a:ea typeface="Courier New"/>
                <a:cs typeface="Courier New"/>
              </a:rPr>
              <a:t>WHY THIS MATTERS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8624C76-636B-4987-AC11-03B9F5F10BCC}"/>
              </a:ext>
            </a:extLst>
          </p:cNvPr>
          <p:cNvSpPr>
            <a:spLocks noGrp="1"/>
          </p:cNvSpPr>
          <p:nvPr/>
        </p:nvSpPr>
        <p:spPr>
          <a:xfrm>
            <a:off x="800100" y="4743450"/>
            <a:ext cx="7334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 visible button is never the permission boundary. The server repeats identity, role, consent, and input checks.</a:t>
            </a:r>
          </a:p>
        </p:txBody>
      </p:sp>
      <p:sp>
        <p:nvSpPr>
          <p:cNvPr id="56" name="note-Adviser point">
            <a:extLst>
              <a:ext uri="{FF2B5EF4-FFF2-40B4-BE49-F238E27FC236}">
                <a16:creationId xmlns:a16="http://schemas.microsoft.com/office/drawing/2014/main" id="{40DF148F-C543-4A4D-BDA3-A7471327223C}"/>
              </a:ext>
            </a:extLst>
          </p:cNvPr>
          <p:cNvSpPr>
            <a:spLocks noGrp="1"/>
          </p:cNvSpPr>
          <p:nvPr/>
        </p:nvSpPr>
        <p:spPr>
          <a:xfrm>
            <a:off x="8763000" y="4267200"/>
            <a:ext cx="2857500" cy="1200150"/>
          </a:xfrm>
          <a:prstGeom prst="rect">
            <a:avLst/>
          </a:prstGeom>
          <a:solidFill>
            <a:srgbClr val="16233A"/>
          </a:solidFill>
          <a:ln w="9525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911D725-EAF7-4BAB-8644-E1915A88F478}"/>
              </a:ext>
            </a:extLst>
          </p:cNvPr>
          <p:cNvSpPr>
            <a:spLocks noGrp="1"/>
          </p:cNvSpPr>
          <p:nvPr/>
        </p:nvSpPr>
        <p:spPr>
          <a:xfrm>
            <a:off x="8934450" y="44386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18A8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18A82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5BBEAB-CE00-45E7-8F16-6766DF936677}"/>
              </a:ext>
            </a:extLst>
          </p:cNvPr>
          <p:cNvSpPr>
            <a:spLocks noGrp="1"/>
          </p:cNvSpPr>
          <p:nvPr/>
        </p:nvSpPr>
        <p:spPr>
          <a:xfrm>
            <a:off x="8934450" y="4762500"/>
            <a:ext cx="2514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This is the control spine of SENTINEL. It prevents unauthorized access and gives each important change a traceable record.</a:t>
            </a:r>
          </a:p>
        </p:txBody>
      </p:sp>
      <p:sp>
        <p:nvSpPr>
          <p:cNvPr id="59" name="footer-rule">
            <a:extLst>
              <a:ext uri="{FF2B5EF4-FFF2-40B4-BE49-F238E27FC236}">
                <a16:creationId xmlns:a16="http://schemas.microsoft.com/office/drawing/2014/main" id="{2208CF1D-4EBD-4012-8E22-8BB3E2F19C22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AA34F26-11D0-4321-A85A-1DF28E6B2C8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protected API request lifecycle in SYSTEM_FLOW_DIAGRAMS.md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4E4CA85-7288-4CC6-90FE-C98A7AEE1A46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210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-background">
            <a:extLst>
              <a:ext uri="{FF2B5EF4-FFF2-40B4-BE49-F238E27FC236}">
                <a16:creationId xmlns:a16="http://schemas.microsoft.com/office/drawing/2014/main" id="{E615B7A1-27CE-411A-9CC2-687A080B27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0A4B046F-F5A8-4080-BC81-2B88E7F1C0F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1AB164C8-A8A1-468B-A37F-5DC78B5EB269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04 | ATTENDANCE / DTR</a:t>
            </a:r>
          </a:p>
        </p:txBody>
      </p:sp>
      <p:sp>
        <p:nvSpPr>
          <p:cNvPr id="4" name="claim-5">
            <a:extLst>
              <a:ext uri="{FF2B5EF4-FFF2-40B4-BE49-F238E27FC236}">
                <a16:creationId xmlns:a16="http://schemas.microsoft.com/office/drawing/2014/main" id="{3B6A56FB-EA99-4960-8232-B816E514371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Attendance records turn scheduled work into accountable DTR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B7092-6B6B-456C-AC0B-D3917EE9FF21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The system compares planned shifts with actual check-in and check-out activity.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1609CCAF-3AF8-4DE3-909A-8DDE31666377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FIELD-TO-REPORT TIMELINE">
            <a:extLst>
              <a:ext uri="{FF2B5EF4-FFF2-40B4-BE49-F238E27FC236}">
                <a16:creationId xmlns:a16="http://schemas.microsoft.com/office/drawing/2014/main" id="{CB167C19-D5E0-4014-A557-9C1EE6FC73BE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2095500" cy="228600"/>
          </a:xfrm>
          <a:prstGeom prst="rect">
            <a:avLst/>
          </a:prstGeom>
          <a:solidFill>
            <a:srgbClr val="44C8E8">
              <a:alpha val="13333"/>
            </a:srgbClr>
          </a:solidFill>
          <a:ln w="9525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BBF08F-68C1-4758-9454-4784233730B1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FIELD-TO-REPORT TIMELINE</a:t>
            </a:r>
          </a:p>
        </p:txBody>
      </p:sp>
      <p:sp>
        <p:nvSpPr>
          <p:cNvPr id="9" name="attendance-timeline">
            <a:extLst>
              <a:ext uri="{FF2B5EF4-FFF2-40B4-BE49-F238E27FC236}">
                <a16:creationId xmlns:a16="http://schemas.microsoft.com/office/drawing/2014/main" id="{069C5B49-52C2-45E7-B03F-0663F9E96C5E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674370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ttendance-1-dot">
            <a:extLst>
              <a:ext uri="{FF2B5EF4-FFF2-40B4-BE49-F238E27FC236}">
                <a16:creationId xmlns:a16="http://schemas.microsoft.com/office/drawing/2014/main" id="{E2F8A279-A792-4F10-AC2D-E88FEA25C7CA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85750" cy="28575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01BF6-6B81-4A17-BB1C-A1F35845C231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DE154C-CA3F-4BD6-B0F8-0F598078ED8B}"/>
              </a:ext>
            </a:extLst>
          </p:cNvPr>
          <p:cNvSpPr>
            <a:spLocks noGrp="1"/>
          </p:cNvSpPr>
          <p:nvPr/>
        </p:nvSpPr>
        <p:spPr>
          <a:xfrm>
            <a:off x="628650" y="36004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DA54EC-AC7A-40DE-B6B2-39FC3195F53F}"/>
              </a:ext>
            </a:extLst>
          </p:cNvPr>
          <p:cNvSpPr>
            <a:spLocks noGrp="1"/>
          </p:cNvSpPr>
          <p:nvPr/>
        </p:nvSpPr>
        <p:spPr>
          <a:xfrm>
            <a:off x="476250" y="38576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Assigned shift</a:t>
            </a:r>
          </a:p>
        </p:txBody>
      </p:sp>
      <p:sp>
        <p:nvSpPr>
          <p:cNvPr id="14" name="attendance-2-dot">
            <a:extLst>
              <a:ext uri="{FF2B5EF4-FFF2-40B4-BE49-F238E27FC236}">
                <a16:creationId xmlns:a16="http://schemas.microsoft.com/office/drawing/2014/main" id="{0086A76E-CF2C-42C3-A129-4C3E443A8437}"/>
              </a:ext>
            </a:extLst>
          </p:cNvPr>
          <p:cNvSpPr>
            <a:spLocks noGrp="1"/>
          </p:cNvSpPr>
          <p:nvPr/>
        </p:nvSpPr>
        <p:spPr>
          <a:xfrm>
            <a:off x="2495550" y="3124200"/>
            <a:ext cx="285750" cy="28575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2CA052-B8CF-4325-90FF-91340C6639C4}"/>
              </a:ext>
            </a:extLst>
          </p:cNvPr>
          <p:cNvSpPr>
            <a:spLocks noGrp="1"/>
          </p:cNvSpPr>
          <p:nvPr/>
        </p:nvSpPr>
        <p:spPr>
          <a:xfrm>
            <a:off x="2495550" y="3190875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931749-BC8F-4EFE-BBA2-FAAFA9A5BCAE}"/>
              </a:ext>
            </a:extLst>
          </p:cNvPr>
          <p:cNvSpPr>
            <a:spLocks noGrp="1"/>
          </p:cNvSpPr>
          <p:nvPr/>
        </p:nvSpPr>
        <p:spPr>
          <a:xfrm>
            <a:off x="2247900" y="36004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2A5756-B087-4FAD-A7C8-7B2118864A70}"/>
              </a:ext>
            </a:extLst>
          </p:cNvPr>
          <p:cNvSpPr>
            <a:spLocks noGrp="1"/>
          </p:cNvSpPr>
          <p:nvPr/>
        </p:nvSpPr>
        <p:spPr>
          <a:xfrm>
            <a:off x="2095500" y="38576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Actual start</a:t>
            </a:r>
          </a:p>
        </p:txBody>
      </p:sp>
      <p:sp>
        <p:nvSpPr>
          <p:cNvPr id="18" name="attendance-3-dot">
            <a:extLst>
              <a:ext uri="{FF2B5EF4-FFF2-40B4-BE49-F238E27FC236}">
                <a16:creationId xmlns:a16="http://schemas.microsoft.com/office/drawing/2014/main" id="{2FAE641F-245B-4ECF-A3C1-253B93D6FA01}"/>
              </a:ext>
            </a:extLst>
          </p:cNvPr>
          <p:cNvSpPr>
            <a:spLocks noGrp="1"/>
          </p:cNvSpPr>
          <p:nvPr/>
        </p:nvSpPr>
        <p:spPr>
          <a:xfrm>
            <a:off x="4114800" y="3124200"/>
            <a:ext cx="285750" cy="28575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7FD45C-E74E-48FC-989E-1F99B7627AF7}"/>
              </a:ext>
            </a:extLst>
          </p:cNvPr>
          <p:cNvSpPr>
            <a:spLocks noGrp="1"/>
          </p:cNvSpPr>
          <p:nvPr/>
        </p:nvSpPr>
        <p:spPr>
          <a:xfrm>
            <a:off x="4114800" y="3190875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27400-EBBD-4769-89B0-A58319F0431E}"/>
              </a:ext>
            </a:extLst>
          </p:cNvPr>
          <p:cNvSpPr>
            <a:spLocks noGrp="1"/>
          </p:cNvSpPr>
          <p:nvPr/>
        </p:nvSpPr>
        <p:spPr>
          <a:xfrm>
            <a:off x="3867150" y="36004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BA6159-8FB3-4F0A-ACB6-EB3324E74DDD}"/>
              </a:ext>
            </a:extLst>
          </p:cNvPr>
          <p:cNvSpPr>
            <a:spLocks noGrp="1"/>
          </p:cNvSpPr>
          <p:nvPr/>
        </p:nvSpPr>
        <p:spPr>
          <a:xfrm>
            <a:off x="3714750" y="38576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Shift in progress</a:t>
            </a:r>
          </a:p>
        </p:txBody>
      </p:sp>
      <p:sp>
        <p:nvSpPr>
          <p:cNvPr id="22" name="attendance-4-dot">
            <a:extLst>
              <a:ext uri="{FF2B5EF4-FFF2-40B4-BE49-F238E27FC236}">
                <a16:creationId xmlns:a16="http://schemas.microsoft.com/office/drawing/2014/main" id="{3CD9D0AA-E41A-40E3-9A0C-088564966200}"/>
              </a:ext>
            </a:extLst>
          </p:cNvPr>
          <p:cNvSpPr>
            <a:spLocks noGrp="1"/>
          </p:cNvSpPr>
          <p:nvPr/>
        </p:nvSpPr>
        <p:spPr>
          <a:xfrm>
            <a:off x="5734050" y="3124200"/>
            <a:ext cx="285750" cy="28575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0FD724-3F61-4150-ABCB-E4F486259957}"/>
              </a:ext>
            </a:extLst>
          </p:cNvPr>
          <p:cNvSpPr>
            <a:spLocks noGrp="1"/>
          </p:cNvSpPr>
          <p:nvPr/>
        </p:nvSpPr>
        <p:spPr>
          <a:xfrm>
            <a:off x="5734050" y="3190875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9964E5-8AED-4F91-8F86-2524B8D6D552}"/>
              </a:ext>
            </a:extLst>
          </p:cNvPr>
          <p:cNvSpPr>
            <a:spLocks noGrp="1"/>
          </p:cNvSpPr>
          <p:nvPr/>
        </p:nvSpPr>
        <p:spPr>
          <a:xfrm>
            <a:off x="5486400" y="36004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Check 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B626-8BDD-4DC4-8A5E-946744AEB384}"/>
              </a:ext>
            </a:extLst>
          </p:cNvPr>
          <p:cNvSpPr>
            <a:spLocks noGrp="1"/>
          </p:cNvSpPr>
          <p:nvPr/>
        </p:nvSpPr>
        <p:spPr>
          <a:xfrm>
            <a:off x="5334000" y="38576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Actual end</a:t>
            </a:r>
          </a:p>
        </p:txBody>
      </p:sp>
      <p:sp>
        <p:nvSpPr>
          <p:cNvPr id="26" name="attendance-5-dot">
            <a:extLst>
              <a:ext uri="{FF2B5EF4-FFF2-40B4-BE49-F238E27FC236}">
                <a16:creationId xmlns:a16="http://schemas.microsoft.com/office/drawing/2014/main" id="{63E169C2-81CF-4F99-9FF1-AD43CDB85465}"/>
              </a:ext>
            </a:extLst>
          </p:cNvPr>
          <p:cNvSpPr>
            <a:spLocks noGrp="1"/>
          </p:cNvSpPr>
          <p:nvPr/>
        </p:nvSpPr>
        <p:spPr>
          <a:xfrm>
            <a:off x="7353300" y="3124200"/>
            <a:ext cx="285750" cy="28575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0C48B1-69FE-4613-8C56-771DB109A16B}"/>
              </a:ext>
            </a:extLst>
          </p:cNvPr>
          <p:cNvSpPr>
            <a:spLocks noGrp="1"/>
          </p:cNvSpPr>
          <p:nvPr/>
        </p:nvSpPr>
        <p:spPr>
          <a:xfrm>
            <a:off x="7353300" y="3190875"/>
            <a:ext cx="28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6D5D5B-77CB-4CE4-BDF3-B41C82833DE7}"/>
              </a:ext>
            </a:extLst>
          </p:cNvPr>
          <p:cNvSpPr>
            <a:spLocks noGrp="1"/>
          </p:cNvSpPr>
          <p:nvPr/>
        </p:nvSpPr>
        <p:spPr>
          <a:xfrm>
            <a:off x="7105650" y="36004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DTR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FCCE20-809B-4FBF-A791-8143C1FB5DF7}"/>
              </a:ext>
            </a:extLst>
          </p:cNvPr>
          <p:cNvSpPr>
            <a:spLocks noGrp="1"/>
          </p:cNvSpPr>
          <p:nvPr/>
        </p:nvSpPr>
        <p:spPr>
          <a:xfrm>
            <a:off x="6953250" y="38576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Hours + status</a:t>
            </a:r>
          </a:p>
        </p:txBody>
      </p:sp>
      <p:sp>
        <p:nvSpPr>
          <p:cNvPr id="30" name="attendance-output">
            <a:extLst>
              <a:ext uri="{FF2B5EF4-FFF2-40B4-BE49-F238E27FC236}">
                <a16:creationId xmlns:a16="http://schemas.microsoft.com/office/drawing/2014/main" id="{93541DD6-6C11-4064-A4E1-9EE117FD86C8}"/>
              </a:ext>
            </a:extLst>
          </p:cNvPr>
          <p:cNvSpPr>
            <a:spLocks noGrp="1"/>
          </p:cNvSpPr>
          <p:nvPr/>
        </p:nvSpPr>
        <p:spPr>
          <a:xfrm>
            <a:off x="590550" y="4591050"/>
            <a:ext cx="7239000" cy="819150"/>
          </a:xfrm>
          <a:prstGeom prst="rect">
            <a:avLst/>
          </a:prstGeom>
          <a:solidFill>
            <a:srgbClr val="101D31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DDFD6-1A66-40C3-9636-B25A3AF09EA1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DTR OUTPUT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0C4A50-3A62-4AC1-893C-4192B58BD2BD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Scheduled start/end  |  actual check-in/out  |  late minutes  |  absence/no-show  |  total hours</a:t>
            </a:r>
          </a:p>
        </p:txBody>
      </p:sp>
      <p:sp>
        <p:nvSpPr>
          <p:cNvPr id="33" name="note-Adviser point">
            <a:extLst>
              <a:ext uri="{FF2B5EF4-FFF2-40B4-BE49-F238E27FC236}">
                <a16:creationId xmlns:a16="http://schemas.microsoft.com/office/drawing/2014/main" id="{5825A7A5-B677-4198-BDD3-F21699FD87EF}"/>
              </a:ext>
            </a:extLst>
          </p:cNvPr>
          <p:cNvSpPr>
            <a:spLocks noGrp="1"/>
          </p:cNvSpPr>
          <p:nvPr/>
        </p:nvSpPr>
        <p:spPr>
          <a:xfrm>
            <a:off x="8572500" y="2209800"/>
            <a:ext cx="3048000" cy="1752600"/>
          </a:xfrm>
          <a:prstGeom prst="rect">
            <a:avLst/>
          </a:prstGeom>
          <a:solidFill>
            <a:srgbClr val="16233A"/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E84D2D-C410-4602-B3D8-71362D67A110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D31D69-E2D4-49E3-96B7-C67D59137ADD}"/>
              </a:ext>
            </a:extLst>
          </p:cNvPr>
          <p:cNvSpPr>
            <a:spLocks noGrp="1"/>
          </p:cNvSpPr>
          <p:nvPr/>
        </p:nvSpPr>
        <p:spPr>
          <a:xfrm>
            <a:off x="8743950" y="2705100"/>
            <a:ext cx="27051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DTR is derived from operational attendance records, so the report can be filtered and traced back to the underlying shift activity.</a:t>
            </a:r>
          </a:p>
        </p:txBody>
      </p:sp>
      <p:sp>
        <p:nvSpPr>
          <p:cNvPr id="36" name="footer-rule">
            <a:extLst>
              <a:ext uri="{FF2B5EF4-FFF2-40B4-BE49-F238E27FC236}">
                <a16:creationId xmlns:a16="http://schemas.microsoft.com/office/drawing/2014/main" id="{2E00D7B3-1D99-42A8-9390-5FBC4E0F836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AEFF51-F3A0-4375-A8D0-4F9EA503D5FD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DTR and attendance enhancement in RELEASE_READINESS_GUIDE.md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657E0C-20B5-471F-9D7D-9B8F03E5E893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848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-background">
            <a:extLst>
              <a:ext uri="{FF2B5EF4-FFF2-40B4-BE49-F238E27FC236}">
                <a16:creationId xmlns:a16="http://schemas.microsoft.com/office/drawing/2014/main" id="{E7F4B0C6-89CD-4BA0-8C81-BEBF231F51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D74DF07C-A9C3-4D1E-B3A5-3D33E617233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EF2ECEF4-1625-4CF5-8040-336EC7C77C02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05 | INCIDENT REPORTING</a:t>
            </a:r>
          </a:p>
        </p:txBody>
      </p:sp>
      <p:sp>
        <p:nvSpPr>
          <p:cNvPr id="4" name="claim-6">
            <a:extLst>
              <a:ext uri="{FF2B5EF4-FFF2-40B4-BE49-F238E27FC236}">
                <a16:creationId xmlns:a16="http://schemas.microsoft.com/office/drawing/2014/main" id="{A8084DA9-D6C9-4CB8-92C9-FAD1954D52B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Incidents move from field report to supervised resolution.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49033-8808-4AD0-AD4F-C91DFABDFFE7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The field user submits the facts; command roles review status, priority, and follow-up.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A70CAFB4-263B-44E4-8C41-3FA71DAD279E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ane-FIELD USER">
            <a:extLst>
              <a:ext uri="{FF2B5EF4-FFF2-40B4-BE49-F238E27FC236}">
                <a16:creationId xmlns:a16="http://schemas.microsoft.com/office/drawing/2014/main" id="{88CB48F5-1690-4580-86BA-00B276C3B066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10572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ane-FIELD USER-accent">
            <a:extLst>
              <a:ext uri="{FF2B5EF4-FFF2-40B4-BE49-F238E27FC236}">
                <a16:creationId xmlns:a16="http://schemas.microsoft.com/office/drawing/2014/main" id="{9D477E01-9580-4E3D-B692-57023F9BE1DD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76200" cy="102870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5DEF0-AC94-45B3-8BFC-4312932FF018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FIELD USER</a:t>
            </a:r>
          </a:p>
        </p:txBody>
      </p:sp>
      <p:sp>
        <p:nvSpPr>
          <p:cNvPr id="10" name="incident-observe">
            <a:extLst>
              <a:ext uri="{FF2B5EF4-FFF2-40B4-BE49-F238E27FC236}">
                <a16:creationId xmlns:a16="http://schemas.microsoft.com/office/drawing/2014/main" id="{1147A7B0-AEF2-4C9D-93E3-8E7F282A90DD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16002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incident-observe-marker">
            <a:extLst>
              <a:ext uri="{FF2B5EF4-FFF2-40B4-BE49-F238E27FC236}">
                <a16:creationId xmlns:a16="http://schemas.microsoft.com/office/drawing/2014/main" id="{FCA28553-1784-4317-8FF5-B30E3DD56689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E5702-C943-414A-B40A-752E7371DB46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2061DA-220C-4458-AA1A-F563BB301FB4}"/>
              </a:ext>
            </a:extLst>
          </p:cNvPr>
          <p:cNvSpPr>
            <a:spLocks noGrp="1"/>
          </p:cNvSpPr>
          <p:nvPr/>
        </p:nvSpPr>
        <p:spPr>
          <a:xfrm>
            <a:off x="1504950" y="2581275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Observe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4" name="incident-field-1">
            <a:extLst>
              <a:ext uri="{FF2B5EF4-FFF2-40B4-BE49-F238E27FC236}">
                <a16:creationId xmlns:a16="http://schemas.microsoft.com/office/drawing/2014/main" id="{2E7F9BA3-DDA1-4F0B-AB8E-14EF2197D1BD}"/>
              </a:ext>
            </a:extLst>
          </p:cNvPr>
          <p:cNvSpPr>
            <a:spLocks noGrp="1"/>
          </p:cNvSpPr>
          <p:nvPr/>
        </p:nvSpPr>
        <p:spPr>
          <a:xfrm>
            <a:off x="2571750" y="2705100"/>
            <a:ext cx="72390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ncident-field-1-end">
            <a:extLst>
              <a:ext uri="{FF2B5EF4-FFF2-40B4-BE49-F238E27FC236}">
                <a16:creationId xmlns:a16="http://schemas.microsoft.com/office/drawing/2014/main" id="{2A50B614-B659-4B1C-8427-F108FB1B483D}"/>
              </a:ext>
            </a:extLst>
          </p:cNvPr>
          <p:cNvSpPr>
            <a:spLocks noGrp="1"/>
          </p:cNvSpPr>
          <p:nvPr/>
        </p:nvSpPr>
        <p:spPr>
          <a:xfrm>
            <a:off x="3257550" y="2676525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cident-submit">
            <a:extLst>
              <a:ext uri="{FF2B5EF4-FFF2-40B4-BE49-F238E27FC236}">
                <a16:creationId xmlns:a16="http://schemas.microsoft.com/office/drawing/2014/main" id="{55408D53-FBDE-4866-985B-62922FC25BA2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00025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cident-submit-marker">
            <a:extLst>
              <a:ext uri="{FF2B5EF4-FFF2-40B4-BE49-F238E27FC236}">
                <a16:creationId xmlns:a16="http://schemas.microsoft.com/office/drawing/2014/main" id="{9656C8DD-D682-4C75-A218-AB1FE86E0815}"/>
              </a:ext>
            </a:extLst>
          </p:cNvPr>
          <p:cNvSpPr>
            <a:spLocks noGrp="1"/>
          </p:cNvSpPr>
          <p:nvPr/>
        </p:nvSpPr>
        <p:spPr>
          <a:xfrm>
            <a:off x="3524250" y="26098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3AA31-EAE7-4EDC-A9E0-40454DB3FB41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60B081-2A32-48D1-B5F4-3D445CB93563}"/>
              </a:ext>
            </a:extLst>
          </p:cNvPr>
          <p:cNvSpPr>
            <a:spLocks noGrp="1"/>
          </p:cNvSpPr>
          <p:nvPr/>
        </p:nvSpPr>
        <p:spPr>
          <a:xfrm>
            <a:off x="3924300" y="2581275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Submit description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+ manual priority</a:t>
            </a:r>
          </a:p>
        </p:txBody>
      </p:sp>
      <p:sp>
        <p:nvSpPr>
          <p:cNvPr id="20" name="incident-field-2">
            <a:extLst>
              <a:ext uri="{FF2B5EF4-FFF2-40B4-BE49-F238E27FC236}">
                <a16:creationId xmlns:a16="http://schemas.microsoft.com/office/drawing/2014/main" id="{8A99AD05-6A6C-4176-A1BD-9EF2E791805B}"/>
              </a:ext>
            </a:extLst>
          </p:cNvPr>
          <p:cNvSpPr>
            <a:spLocks noGrp="1"/>
          </p:cNvSpPr>
          <p:nvPr/>
        </p:nvSpPr>
        <p:spPr>
          <a:xfrm>
            <a:off x="5391150" y="2705100"/>
            <a:ext cx="72390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ncident-field-2-end">
            <a:extLst>
              <a:ext uri="{FF2B5EF4-FFF2-40B4-BE49-F238E27FC236}">
                <a16:creationId xmlns:a16="http://schemas.microsoft.com/office/drawing/2014/main" id="{78641392-2E96-480F-A7B0-676A53324683}"/>
              </a:ext>
            </a:extLst>
          </p:cNvPr>
          <p:cNvSpPr>
            <a:spLocks noGrp="1"/>
          </p:cNvSpPr>
          <p:nvPr/>
        </p:nvSpPr>
        <p:spPr>
          <a:xfrm>
            <a:off x="6076950" y="2676525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ncident-save">
            <a:extLst>
              <a:ext uri="{FF2B5EF4-FFF2-40B4-BE49-F238E27FC236}">
                <a16:creationId xmlns:a16="http://schemas.microsoft.com/office/drawing/2014/main" id="{0A60B6EA-120B-4C78-A6F8-FB0F3F0A6FEE}"/>
              </a:ext>
            </a:extLst>
          </p:cNvPr>
          <p:cNvSpPr>
            <a:spLocks noGrp="1"/>
          </p:cNvSpPr>
          <p:nvPr/>
        </p:nvSpPr>
        <p:spPr>
          <a:xfrm>
            <a:off x="6191250" y="2457450"/>
            <a:ext cx="173355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incident-save-marker">
            <a:extLst>
              <a:ext uri="{FF2B5EF4-FFF2-40B4-BE49-F238E27FC236}">
                <a16:creationId xmlns:a16="http://schemas.microsoft.com/office/drawing/2014/main" id="{15F16E6F-6BAE-4FB6-8F9A-B1914DC030C3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CC9E52-7D79-4EF7-A03E-266034E066BD}"/>
              </a:ext>
            </a:extLst>
          </p:cNvPr>
          <p:cNvSpPr>
            <a:spLocks noGrp="1"/>
          </p:cNvSpPr>
          <p:nvPr/>
        </p:nvSpPr>
        <p:spPr>
          <a:xfrm>
            <a:off x="6343650" y="264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7A1591-766F-46C6-8127-402C702F80DE}"/>
              </a:ext>
            </a:extLst>
          </p:cNvPr>
          <p:cNvSpPr>
            <a:spLocks noGrp="1"/>
          </p:cNvSpPr>
          <p:nvPr/>
        </p:nvSpPr>
        <p:spPr>
          <a:xfrm>
            <a:off x="6743700" y="25812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Location and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report saved</a:t>
            </a:r>
          </a:p>
        </p:txBody>
      </p:sp>
      <p:sp>
        <p:nvSpPr>
          <p:cNvPr id="26" name="incident-field-3">
            <a:extLst>
              <a:ext uri="{FF2B5EF4-FFF2-40B4-BE49-F238E27FC236}">
                <a16:creationId xmlns:a16="http://schemas.microsoft.com/office/drawing/2014/main" id="{BFA12D45-AFC1-4E44-93CC-291625444C56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72390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ncident-field-3-end">
            <a:extLst>
              <a:ext uri="{FF2B5EF4-FFF2-40B4-BE49-F238E27FC236}">
                <a16:creationId xmlns:a16="http://schemas.microsoft.com/office/drawing/2014/main" id="{0442ADC4-3E98-4BAB-832A-E34562F9E500}"/>
              </a:ext>
            </a:extLst>
          </p:cNvPr>
          <p:cNvSpPr>
            <a:spLocks noGrp="1"/>
          </p:cNvSpPr>
          <p:nvPr/>
        </p:nvSpPr>
        <p:spPr>
          <a:xfrm>
            <a:off x="8629650" y="2676525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ncident-notify">
            <a:extLst>
              <a:ext uri="{FF2B5EF4-FFF2-40B4-BE49-F238E27FC236}">
                <a16:creationId xmlns:a16="http://schemas.microsoft.com/office/drawing/2014/main" id="{92AE39CB-6E1E-48A8-BBE7-462FF98D9098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161925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ncident-notify-marker">
            <a:extLst>
              <a:ext uri="{FF2B5EF4-FFF2-40B4-BE49-F238E27FC236}">
                <a16:creationId xmlns:a16="http://schemas.microsoft.com/office/drawing/2014/main" id="{546830D4-E371-4C42-9D49-D7F6BE879D78}"/>
              </a:ext>
            </a:extLst>
          </p:cNvPr>
          <p:cNvSpPr>
            <a:spLocks noGrp="1"/>
          </p:cNvSpPr>
          <p:nvPr/>
        </p:nvSpPr>
        <p:spPr>
          <a:xfrm>
            <a:off x="8896350" y="26098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AAA89C-A50D-4B40-849A-130C5417E3A1}"/>
              </a:ext>
            </a:extLst>
          </p:cNvPr>
          <p:cNvSpPr>
            <a:spLocks noGrp="1"/>
          </p:cNvSpPr>
          <p:nvPr/>
        </p:nvSpPr>
        <p:spPr>
          <a:xfrm>
            <a:off x="8896350" y="264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8BAA63-662D-49E4-9A52-353735A565C2}"/>
              </a:ext>
            </a:extLst>
          </p:cNvPr>
          <p:cNvSpPr>
            <a:spLocks noGrp="1"/>
          </p:cNvSpPr>
          <p:nvPr/>
        </p:nvSpPr>
        <p:spPr>
          <a:xfrm>
            <a:off x="9296400" y="2581275"/>
            <a:ext cx="933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Notification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sent</a:t>
            </a:r>
          </a:p>
        </p:txBody>
      </p:sp>
      <p:sp>
        <p:nvSpPr>
          <p:cNvPr id="32" name="lane-COMMAND REVIEW">
            <a:extLst>
              <a:ext uri="{FF2B5EF4-FFF2-40B4-BE49-F238E27FC236}">
                <a16:creationId xmlns:a16="http://schemas.microsoft.com/office/drawing/2014/main" id="{696678EB-D72C-40EB-B187-9E4A986C8577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10572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lane-COMMAND REVIEW-accent">
            <a:extLst>
              <a:ext uri="{FF2B5EF4-FFF2-40B4-BE49-F238E27FC236}">
                <a16:creationId xmlns:a16="http://schemas.microsoft.com/office/drawing/2014/main" id="{8936BC28-1184-4A6A-967B-E54D20CC4103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76200" cy="102870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5EF272-4C74-46E9-8264-D347AAF6DDC7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COMMAND REVIEW</a:t>
            </a:r>
          </a:p>
        </p:txBody>
      </p:sp>
      <p:sp>
        <p:nvSpPr>
          <p:cNvPr id="35" name="incident-review">
            <a:extLst>
              <a:ext uri="{FF2B5EF4-FFF2-40B4-BE49-F238E27FC236}">
                <a16:creationId xmlns:a16="http://schemas.microsoft.com/office/drawing/2014/main" id="{3D65DDF8-8C61-4A36-9670-7504B2F42686}"/>
              </a:ext>
            </a:extLst>
          </p:cNvPr>
          <p:cNvSpPr>
            <a:spLocks noGrp="1"/>
          </p:cNvSpPr>
          <p:nvPr/>
        </p:nvSpPr>
        <p:spPr>
          <a:xfrm>
            <a:off x="2095500" y="3905250"/>
            <a:ext cx="173355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incident-review-marker">
            <a:extLst>
              <a:ext uri="{FF2B5EF4-FFF2-40B4-BE49-F238E27FC236}">
                <a16:creationId xmlns:a16="http://schemas.microsoft.com/office/drawing/2014/main" id="{58B68E58-7DDB-4D59-84F1-0C513CAA0C0E}"/>
              </a:ext>
            </a:extLst>
          </p:cNvPr>
          <p:cNvSpPr>
            <a:spLocks noGrp="1"/>
          </p:cNvSpPr>
          <p:nvPr/>
        </p:nvSpPr>
        <p:spPr>
          <a:xfrm>
            <a:off x="2247900" y="40576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F23D4D-0EDA-4BB0-BE0A-C8E016C80DF5}"/>
              </a:ext>
            </a:extLst>
          </p:cNvPr>
          <p:cNvSpPr>
            <a:spLocks noGrp="1"/>
          </p:cNvSpPr>
          <p:nvPr/>
        </p:nvSpPr>
        <p:spPr>
          <a:xfrm>
            <a:off x="2247900" y="4095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4ED123-E438-4A06-B926-C93418CD3CBE}"/>
              </a:ext>
            </a:extLst>
          </p:cNvPr>
          <p:cNvSpPr>
            <a:spLocks noGrp="1"/>
          </p:cNvSpPr>
          <p:nvPr/>
        </p:nvSpPr>
        <p:spPr>
          <a:xfrm>
            <a:off x="2647950" y="40290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Review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39" name="incident-command-1">
            <a:extLst>
              <a:ext uri="{FF2B5EF4-FFF2-40B4-BE49-F238E27FC236}">
                <a16:creationId xmlns:a16="http://schemas.microsoft.com/office/drawing/2014/main" id="{2CF403E6-0F7E-4AB4-812A-B764D2AF16A0}"/>
              </a:ext>
            </a:extLst>
          </p:cNvPr>
          <p:cNvSpPr>
            <a:spLocks noGrp="1"/>
          </p:cNvSpPr>
          <p:nvPr/>
        </p:nvSpPr>
        <p:spPr>
          <a:xfrm>
            <a:off x="3848100" y="4162425"/>
            <a:ext cx="8572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incident-command-1-end">
            <a:extLst>
              <a:ext uri="{FF2B5EF4-FFF2-40B4-BE49-F238E27FC236}">
                <a16:creationId xmlns:a16="http://schemas.microsoft.com/office/drawing/2014/main" id="{AEC41454-A16A-4C07-BCE8-8B766A82432D}"/>
              </a:ext>
            </a:extLst>
          </p:cNvPr>
          <p:cNvSpPr>
            <a:spLocks noGrp="1"/>
          </p:cNvSpPr>
          <p:nvPr/>
        </p:nvSpPr>
        <p:spPr>
          <a:xfrm>
            <a:off x="4667250" y="4133850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incident-resolve">
            <a:extLst>
              <a:ext uri="{FF2B5EF4-FFF2-40B4-BE49-F238E27FC236}">
                <a16:creationId xmlns:a16="http://schemas.microsoft.com/office/drawing/2014/main" id="{93321195-DED7-41CE-AB31-79C98382CD82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18669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incident-resolve-marker">
            <a:extLst>
              <a:ext uri="{FF2B5EF4-FFF2-40B4-BE49-F238E27FC236}">
                <a16:creationId xmlns:a16="http://schemas.microsoft.com/office/drawing/2014/main" id="{92ABA7E1-1505-44FD-B0D1-B898034DADFA}"/>
              </a:ext>
            </a:extLst>
          </p:cNvPr>
          <p:cNvSpPr>
            <a:spLocks noGrp="1"/>
          </p:cNvSpPr>
          <p:nvPr/>
        </p:nvSpPr>
        <p:spPr>
          <a:xfrm>
            <a:off x="4914900" y="40576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F93A76-5F85-46DF-90EB-960C1FD2D6B7}"/>
              </a:ext>
            </a:extLst>
          </p:cNvPr>
          <p:cNvSpPr>
            <a:spLocks noGrp="1"/>
          </p:cNvSpPr>
          <p:nvPr/>
        </p:nvSpPr>
        <p:spPr>
          <a:xfrm>
            <a:off x="4914900" y="4095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3A887E-7C96-4403-9262-3B1933AD54D9}"/>
              </a:ext>
            </a:extLst>
          </p:cNvPr>
          <p:cNvSpPr>
            <a:spLocks noGrp="1"/>
          </p:cNvSpPr>
          <p:nvPr/>
        </p:nvSpPr>
        <p:spPr>
          <a:xfrm>
            <a:off x="5314950" y="4029075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Update status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+ resolution</a:t>
            </a:r>
          </a:p>
        </p:txBody>
      </p:sp>
      <p:sp>
        <p:nvSpPr>
          <p:cNvPr id="45" name="incident-command-2">
            <a:extLst>
              <a:ext uri="{FF2B5EF4-FFF2-40B4-BE49-F238E27FC236}">
                <a16:creationId xmlns:a16="http://schemas.microsoft.com/office/drawing/2014/main" id="{A1C05C40-4EED-42DA-8BE7-E8D089308FAE}"/>
              </a:ext>
            </a:extLst>
          </p:cNvPr>
          <p:cNvSpPr>
            <a:spLocks noGrp="1"/>
          </p:cNvSpPr>
          <p:nvPr/>
        </p:nvSpPr>
        <p:spPr>
          <a:xfrm>
            <a:off x="6648450" y="4162425"/>
            <a:ext cx="85725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incident-command-2-end">
            <a:extLst>
              <a:ext uri="{FF2B5EF4-FFF2-40B4-BE49-F238E27FC236}">
                <a16:creationId xmlns:a16="http://schemas.microsoft.com/office/drawing/2014/main" id="{D3B0F954-E2FD-4E32-B369-20F9C15D35D5}"/>
              </a:ext>
            </a:extLst>
          </p:cNvPr>
          <p:cNvSpPr>
            <a:spLocks noGrp="1"/>
          </p:cNvSpPr>
          <p:nvPr/>
        </p:nvSpPr>
        <p:spPr>
          <a:xfrm>
            <a:off x="7467600" y="4133850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incident-report">
            <a:extLst>
              <a:ext uri="{FF2B5EF4-FFF2-40B4-BE49-F238E27FC236}">
                <a16:creationId xmlns:a16="http://schemas.microsoft.com/office/drawing/2014/main" id="{7828D215-BE75-40FD-831D-4342153914CB}"/>
              </a:ext>
            </a:extLst>
          </p:cNvPr>
          <p:cNvSpPr>
            <a:spLocks noGrp="1"/>
          </p:cNvSpPr>
          <p:nvPr/>
        </p:nvSpPr>
        <p:spPr>
          <a:xfrm>
            <a:off x="7562850" y="3905250"/>
            <a:ext cx="18669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incident-report-marker">
            <a:extLst>
              <a:ext uri="{FF2B5EF4-FFF2-40B4-BE49-F238E27FC236}">
                <a16:creationId xmlns:a16="http://schemas.microsoft.com/office/drawing/2014/main" id="{08F2417E-349D-4455-BFC9-53FEB71B495D}"/>
              </a:ext>
            </a:extLst>
          </p:cNvPr>
          <p:cNvSpPr>
            <a:spLocks noGrp="1"/>
          </p:cNvSpPr>
          <p:nvPr/>
        </p:nvSpPr>
        <p:spPr>
          <a:xfrm>
            <a:off x="7715250" y="40576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EC5FE7-BAED-4E8A-A539-4FC628A6C39A}"/>
              </a:ext>
            </a:extLst>
          </p:cNvPr>
          <p:cNvSpPr>
            <a:spLocks noGrp="1"/>
          </p:cNvSpPr>
          <p:nvPr/>
        </p:nvSpPr>
        <p:spPr>
          <a:xfrm>
            <a:off x="7715250" y="4095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ED3FFC-7C5D-4F94-ACDB-664CBB2ECCAD}"/>
              </a:ext>
            </a:extLst>
          </p:cNvPr>
          <p:cNvSpPr>
            <a:spLocks noGrp="1"/>
          </p:cNvSpPr>
          <p:nvPr/>
        </p:nvSpPr>
        <p:spPr>
          <a:xfrm>
            <a:off x="8115300" y="4029075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Report and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51" name="note-Adviser point">
            <a:extLst>
              <a:ext uri="{FF2B5EF4-FFF2-40B4-BE49-F238E27FC236}">
                <a16:creationId xmlns:a16="http://schemas.microsoft.com/office/drawing/2014/main" id="{C070DD38-194B-4682-A24B-EAA405BD60E7}"/>
              </a:ext>
            </a:extLst>
          </p:cNvPr>
          <p:cNvSpPr>
            <a:spLocks noGrp="1"/>
          </p:cNvSpPr>
          <p:nvPr/>
        </p:nvSpPr>
        <p:spPr>
          <a:xfrm>
            <a:off x="8572500" y="4953000"/>
            <a:ext cx="3048000" cy="876300"/>
          </a:xfrm>
          <a:prstGeom prst="rect">
            <a:avLst/>
          </a:prstGeom>
          <a:solidFill>
            <a:srgbClr val="16233A"/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D2ED0B-970B-45A4-8FAB-A02371EDE0B6}"/>
              </a:ext>
            </a:extLst>
          </p:cNvPr>
          <p:cNvSpPr>
            <a:spLocks noGrp="1"/>
          </p:cNvSpPr>
          <p:nvPr/>
        </p:nvSpPr>
        <p:spPr>
          <a:xfrm>
            <a:off x="8743950" y="51244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A06226-8D9E-4A0F-BE2F-C53F6A4AB037}"/>
              </a:ext>
            </a:extLst>
          </p:cNvPr>
          <p:cNvSpPr>
            <a:spLocks noGrp="1"/>
          </p:cNvSpPr>
          <p:nvPr/>
        </p:nvSpPr>
        <p:spPr>
          <a:xfrm>
            <a:off x="8743950" y="5448300"/>
            <a:ext cx="2705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The system preserves the original report while authorized personnel control the operational response and resolution status.</a:t>
            </a:r>
          </a:p>
        </p:txBody>
      </p:sp>
      <p:sp>
        <p:nvSpPr>
          <p:cNvPr id="54" name="footer-rule">
            <a:extLst>
              <a:ext uri="{FF2B5EF4-FFF2-40B4-BE49-F238E27FC236}">
                <a16:creationId xmlns:a16="http://schemas.microsoft.com/office/drawing/2014/main" id="{6AE41FDA-4789-473A-86EC-F94C15E66025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65844CF-645B-4DD8-966D-B13F78EB0FF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incident reporting, notifications, and analytics modules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B4EA15-66E7-498F-8801-8322752C926C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03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background">
            <a:extLst>
              <a:ext uri="{FF2B5EF4-FFF2-40B4-BE49-F238E27FC236}">
                <a16:creationId xmlns:a16="http://schemas.microsoft.com/office/drawing/2014/main" id="{03253037-8708-433C-9775-0790A888F2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2B2E154E-34EB-444C-B2B0-7B62CFEE355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D5075FDE-0325-4FE8-9329-438BC4E84580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06 | LOCATION MONITORING</a:t>
            </a:r>
          </a:p>
        </p:txBody>
      </p:sp>
      <p:sp>
        <p:nvSpPr>
          <p:cNvPr id="4" name="claim-7">
            <a:extLst>
              <a:ext uri="{FF2B5EF4-FFF2-40B4-BE49-F238E27FC236}">
                <a16:creationId xmlns:a16="http://schemas.microsoft.com/office/drawing/2014/main" id="{F5B1326C-B81E-48ED-A69C-5D7E100E36F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Consent-aware location signals create an operational picture.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047094-8EB3-43FD-90B3-C7F9A63BA678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SENTINEL accepts a location heartbeat only within the user, consent, and tracking rules.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987DC0A6-EDE6-47C8-8BE1-7FB274D1928B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TRACKING LOOP">
            <a:extLst>
              <a:ext uri="{FF2B5EF4-FFF2-40B4-BE49-F238E27FC236}">
                <a16:creationId xmlns:a16="http://schemas.microsoft.com/office/drawing/2014/main" id="{DB01323A-C6EF-4041-AAA0-31A0F7E203A2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1333500" cy="228600"/>
          </a:xfrm>
          <a:prstGeom prst="rect">
            <a:avLst/>
          </a:prstGeom>
          <a:solidFill>
            <a:srgbClr val="44C8E8">
              <a:alpha val="13333"/>
            </a:srgbClr>
          </a:solidFill>
          <a:ln w="9525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69A0A8-E29B-4471-928E-7834A465AFA5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TRACKING LOOP</a:t>
            </a:r>
          </a:p>
        </p:txBody>
      </p:sp>
      <p:sp>
        <p:nvSpPr>
          <p:cNvPr id="9" name="track-device">
            <a:extLst>
              <a:ext uri="{FF2B5EF4-FFF2-40B4-BE49-F238E27FC236}">
                <a16:creationId xmlns:a16="http://schemas.microsoft.com/office/drawing/2014/main" id="{5F095590-E9B0-4975-8F06-CD6F4D2FEFA7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7145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rack-device-marker">
            <a:extLst>
              <a:ext uri="{FF2B5EF4-FFF2-40B4-BE49-F238E27FC236}">
                <a16:creationId xmlns:a16="http://schemas.microsoft.com/office/drawing/2014/main" id="{68880BC5-9617-4CF7-AF41-2FDB6FAA0DDC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AFDE5B-56FC-419C-9F72-1B8A462BC38D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EEA5E9-41DD-4C90-ABDF-7B64EF056B96}"/>
              </a:ext>
            </a:extLst>
          </p:cNvPr>
          <p:cNvSpPr>
            <a:spLocks noGrp="1"/>
          </p:cNvSpPr>
          <p:nvPr/>
        </p:nvSpPr>
        <p:spPr>
          <a:xfrm>
            <a:off x="1276350" y="2981325"/>
            <a:ext cx="1028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Guard device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sends heartbeat</a:t>
            </a:r>
          </a:p>
        </p:txBody>
      </p:sp>
      <p:sp>
        <p:nvSpPr>
          <p:cNvPr id="13" name="track-1">
            <a:extLst>
              <a:ext uri="{FF2B5EF4-FFF2-40B4-BE49-F238E27FC236}">
                <a16:creationId xmlns:a16="http://schemas.microsoft.com/office/drawing/2014/main" id="{BCDD4809-7484-4682-8E7E-4F8A3C8E146E}"/>
              </a:ext>
            </a:extLst>
          </p:cNvPr>
          <p:cNvSpPr>
            <a:spLocks noGrp="1"/>
          </p:cNvSpPr>
          <p:nvPr/>
        </p:nvSpPr>
        <p:spPr>
          <a:xfrm>
            <a:off x="2457450" y="3219450"/>
            <a:ext cx="62865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rack-1-end">
            <a:extLst>
              <a:ext uri="{FF2B5EF4-FFF2-40B4-BE49-F238E27FC236}">
                <a16:creationId xmlns:a16="http://schemas.microsoft.com/office/drawing/2014/main" id="{4B4CA792-4781-4D6A-837A-5F570BD272C5}"/>
              </a:ext>
            </a:extLst>
          </p:cNvPr>
          <p:cNvSpPr>
            <a:spLocks noGrp="1"/>
          </p:cNvSpPr>
          <p:nvPr/>
        </p:nvSpPr>
        <p:spPr>
          <a:xfrm>
            <a:off x="3048000" y="3190875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rack-validate">
            <a:extLst>
              <a:ext uri="{FF2B5EF4-FFF2-40B4-BE49-F238E27FC236}">
                <a16:creationId xmlns:a16="http://schemas.microsoft.com/office/drawing/2014/main" id="{80A8B8CA-3E96-4938-9EDB-9EE72E7EA0FB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rack-validate-marker">
            <a:extLst>
              <a:ext uri="{FF2B5EF4-FFF2-40B4-BE49-F238E27FC236}">
                <a16:creationId xmlns:a16="http://schemas.microsoft.com/office/drawing/2014/main" id="{C9903AAB-A32C-4613-ACA6-C56A6BC69353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DB011E-4599-4ACC-BA6E-088BA5A3D8F7}"/>
              </a:ext>
            </a:extLst>
          </p:cNvPr>
          <p:cNvSpPr>
            <a:spLocks noGrp="1"/>
          </p:cNvSpPr>
          <p:nvPr/>
        </p:nvSpPr>
        <p:spPr>
          <a:xfrm>
            <a:off x="32956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45FC51-3E86-42C2-839B-3AE617804035}"/>
              </a:ext>
            </a:extLst>
          </p:cNvPr>
          <p:cNvSpPr>
            <a:spLocks noGrp="1"/>
          </p:cNvSpPr>
          <p:nvPr/>
        </p:nvSpPr>
        <p:spPr>
          <a:xfrm>
            <a:off x="3695700" y="2981325"/>
            <a:ext cx="1028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Consent +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role validated</a:t>
            </a:r>
          </a:p>
        </p:txBody>
      </p:sp>
      <p:sp>
        <p:nvSpPr>
          <p:cNvPr id="19" name="track-2">
            <a:extLst>
              <a:ext uri="{FF2B5EF4-FFF2-40B4-BE49-F238E27FC236}">
                <a16:creationId xmlns:a16="http://schemas.microsoft.com/office/drawing/2014/main" id="{EFDC72FE-F146-4986-8A4B-BF3FF172B63E}"/>
              </a:ext>
            </a:extLst>
          </p:cNvPr>
          <p:cNvSpPr>
            <a:spLocks noGrp="1"/>
          </p:cNvSpPr>
          <p:nvPr/>
        </p:nvSpPr>
        <p:spPr>
          <a:xfrm>
            <a:off x="4876800" y="3219450"/>
            <a:ext cx="6286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rack-2-end">
            <a:extLst>
              <a:ext uri="{FF2B5EF4-FFF2-40B4-BE49-F238E27FC236}">
                <a16:creationId xmlns:a16="http://schemas.microsoft.com/office/drawing/2014/main" id="{B8E61B27-8EC7-48CD-BD1E-94DBD31FB526}"/>
              </a:ext>
            </a:extLst>
          </p:cNvPr>
          <p:cNvSpPr>
            <a:spLocks noGrp="1"/>
          </p:cNvSpPr>
          <p:nvPr/>
        </p:nvSpPr>
        <p:spPr>
          <a:xfrm>
            <a:off x="5467350" y="3190875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ack-store">
            <a:extLst>
              <a:ext uri="{FF2B5EF4-FFF2-40B4-BE49-F238E27FC236}">
                <a16:creationId xmlns:a16="http://schemas.microsoft.com/office/drawing/2014/main" id="{C15557B2-2D41-4C4C-AF3C-7687B658143A}"/>
              </a:ext>
            </a:extLst>
          </p:cNvPr>
          <p:cNvSpPr>
            <a:spLocks noGrp="1"/>
          </p:cNvSpPr>
          <p:nvPr/>
        </p:nvSpPr>
        <p:spPr>
          <a:xfrm>
            <a:off x="5562600" y="2857500"/>
            <a:ext cx="16764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rack-store-marker">
            <a:extLst>
              <a:ext uri="{FF2B5EF4-FFF2-40B4-BE49-F238E27FC236}">
                <a16:creationId xmlns:a16="http://schemas.microsoft.com/office/drawing/2014/main" id="{05ED6041-8B05-4477-91E1-428BFFFCDC72}"/>
              </a:ext>
            </a:extLst>
          </p:cNvPr>
          <p:cNvSpPr>
            <a:spLocks noGrp="1"/>
          </p:cNvSpPr>
          <p:nvPr/>
        </p:nvSpPr>
        <p:spPr>
          <a:xfrm>
            <a:off x="5715000" y="30099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22461-005E-4289-97B6-5D6B0B733DB1}"/>
              </a:ext>
            </a:extLst>
          </p:cNvPr>
          <p:cNvSpPr>
            <a:spLocks noGrp="1"/>
          </p:cNvSpPr>
          <p:nvPr/>
        </p:nvSpPr>
        <p:spPr>
          <a:xfrm>
            <a:off x="57150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44C6CD-FAEC-466F-BD49-30D61A5E17A3}"/>
              </a:ext>
            </a:extLst>
          </p:cNvPr>
          <p:cNvSpPr>
            <a:spLocks noGrp="1"/>
          </p:cNvSpPr>
          <p:nvPr/>
        </p:nvSpPr>
        <p:spPr>
          <a:xfrm>
            <a:off x="6115050" y="2981325"/>
            <a:ext cx="990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Tracking point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stored</a:t>
            </a:r>
          </a:p>
        </p:txBody>
      </p:sp>
      <p:sp>
        <p:nvSpPr>
          <p:cNvPr id="25" name="track-3">
            <a:extLst>
              <a:ext uri="{FF2B5EF4-FFF2-40B4-BE49-F238E27FC236}">
                <a16:creationId xmlns:a16="http://schemas.microsoft.com/office/drawing/2014/main" id="{668A923A-F0A9-445C-9D79-0BC7889F5267}"/>
              </a:ext>
            </a:extLst>
          </p:cNvPr>
          <p:cNvSpPr>
            <a:spLocks noGrp="1"/>
          </p:cNvSpPr>
          <p:nvPr/>
        </p:nvSpPr>
        <p:spPr>
          <a:xfrm>
            <a:off x="7258050" y="3219450"/>
            <a:ext cx="62865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rack-3-end">
            <a:extLst>
              <a:ext uri="{FF2B5EF4-FFF2-40B4-BE49-F238E27FC236}">
                <a16:creationId xmlns:a16="http://schemas.microsoft.com/office/drawing/2014/main" id="{47BF840A-2865-4794-A5BB-F9EE56A04D96}"/>
              </a:ext>
            </a:extLst>
          </p:cNvPr>
          <p:cNvSpPr>
            <a:spLocks noGrp="1"/>
          </p:cNvSpPr>
          <p:nvPr/>
        </p:nvSpPr>
        <p:spPr>
          <a:xfrm>
            <a:off x="7848600" y="3190875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rack-geofence">
            <a:extLst>
              <a:ext uri="{FF2B5EF4-FFF2-40B4-BE49-F238E27FC236}">
                <a16:creationId xmlns:a16="http://schemas.microsoft.com/office/drawing/2014/main" id="{E15EBE20-727E-42EE-9A9B-D6D26BD8C4CB}"/>
              </a:ext>
            </a:extLst>
          </p:cNvPr>
          <p:cNvSpPr>
            <a:spLocks noGrp="1"/>
          </p:cNvSpPr>
          <p:nvPr/>
        </p:nvSpPr>
        <p:spPr>
          <a:xfrm>
            <a:off x="7943850" y="2857500"/>
            <a:ext cx="16764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rack-geofence-marker">
            <a:extLst>
              <a:ext uri="{FF2B5EF4-FFF2-40B4-BE49-F238E27FC236}">
                <a16:creationId xmlns:a16="http://schemas.microsoft.com/office/drawing/2014/main" id="{51DE9B80-A872-4492-BBE5-008E73C19469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63B2B6-BD3A-46B5-93BF-D04FCDB8F60C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789019-F88A-4030-AD27-02067431E3E6}"/>
              </a:ext>
            </a:extLst>
          </p:cNvPr>
          <p:cNvSpPr>
            <a:spLocks noGrp="1"/>
          </p:cNvSpPr>
          <p:nvPr/>
        </p:nvSpPr>
        <p:spPr>
          <a:xfrm>
            <a:off x="8496300" y="2981325"/>
            <a:ext cx="990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Geofence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evaluated</a:t>
            </a:r>
          </a:p>
        </p:txBody>
      </p:sp>
      <p:sp>
        <p:nvSpPr>
          <p:cNvPr id="31" name="track-4">
            <a:extLst>
              <a:ext uri="{FF2B5EF4-FFF2-40B4-BE49-F238E27FC236}">
                <a16:creationId xmlns:a16="http://schemas.microsoft.com/office/drawing/2014/main" id="{35FFF18A-AF97-4E10-9D45-E583DE928693}"/>
              </a:ext>
            </a:extLst>
          </p:cNvPr>
          <p:cNvSpPr>
            <a:spLocks noGrp="1"/>
          </p:cNvSpPr>
          <p:nvPr/>
        </p:nvSpPr>
        <p:spPr>
          <a:xfrm>
            <a:off x="9639300" y="3219450"/>
            <a:ext cx="6286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rack-4-end">
            <a:extLst>
              <a:ext uri="{FF2B5EF4-FFF2-40B4-BE49-F238E27FC236}">
                <a16:creationId xmlns:a16="http://schemas.microsoft.com/office/drawing/2014/main" id="{1EB7C7CF-C2AD-4B01-9F78-B230EFF5B9C3}"/>
              </a:ext>
            </a:extLst>
          </p:cNvPr>
          <p:cNvSpPr>
            <a:spLocks noGrp="1"/>
          </p:cNvSpPr>
          <p:nvPr/>
        </p:nvSpPr>
        <p:spPr>
          <a:xfrm>
            <a:off x="10229850" y="3190875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rack-map">
            <a:extLst>
              <a:ext uri="{FF2B5EF4-FFF2-40B4-BE49-F238E27FC236}">
                <a16:creationId xmlns:a16="http://schemas.microsoft.com/office/drawing/2014/main" id="{FACE274A-1EEB-4F9B-B945-4538ECB9A0BC}"/>
              </a:ext>
            </a:extLst>
          </p:cNvPr>
          <p:cNvSpPr>
            <a:spLocks noGrp="1"/>
          </p:cNvSpPr>
          <p:nvPr/>
        </p:nvSpPr>
        <p:spPr>
          <a:xfrm>
            <a:off x="10325100" y="2857500"/>
            <a:ext cx="12954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rack-map-marker">
            <a:extLst>
              <a:ext uri="{FF2B5EF4-FFF2-40B4-BE49-F238E27FC236}">
                <a16:creationId xmlns:a16="http://schemas.microsoft.com/office/drawing/2014/main" id="{3102729B-9E86-4980-A22F-E45F2BD465FA}"/>
              </a:ext>
            </a:extLst>
          </p:cNvPr>
          <p:cNvSpPr>
            <a:spLocks noGrp="1"/>
          </p:cNvSpPr>
          <p:nvPr/>
        </p:nvSpPr>
        <p:spPr>
          <a:xfrm>
            <a:off x="10477500" y="3009900"/>
            <a:ext cx="266700" cy="2667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3298A3-34D1-4B3B-8FE6-15C13711A15D}"/>
              </a:ext>
            </a:extLst>
          </p:cNvPr>
          <p:cNvSpPr>
            <a:spLocks noGrp="1"/>
          </p:cNvSpPr>
          <p:nvPr/>
        </p:nvSpPr>
        <p:spPr>
          <a:xfrm>
            <a:off x="104775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E56B8F-9417-44CC-9F62-F5226B93D756}"/>
              </a:ext>
            </a:extLst>
          </p:cNvPr>
          <p:cNvSpPr>
            <a:spLocks noGrp="1"/>
          </p:cNvSpPr>
          <p:nvPr/>
        </p:nvSpPr>
        <p:spPr>
          <a:xfrm>
            <a:off x="10877550" y="2981325"/>
            <a:ext cx="609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Map + alert</a:t>
            </a:r>
          </a:p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updated</a:t>
            </a:r>
          </a:p>
        </p:txBody>
      </p:sp>
      <p:sp>
        <p:nvSpPr>
          <p:cNvPr id="37" name="tracking-fallback">
            <a:extLst>
              <a:ext uri="{FF2B5EF4-FFF2-40B4-BE49-F238E27FC236}">
                <a16:creationId xmlns:a16="http://schemas.microsoft.com/office/drawing/2014/main" id="{0D51AE47-0D02-4067-9723-3C84F8D66D67}"/>
              </a:ext>
            </a:extLst>
          </p:cNvPr>
          <p:cNvSpPr>
            <a:spLocks noGrp="1"/>
          </p:cNvSpPr>
          <p:nvPr/>
        </p:nvSpPr>
        <p:spPr>
          <a:xfrm>
            <a:off x="1524000" y="4324350"/>
            <a:ext cx="8382000" cy="800100"/>
          </a:xfrm>
          <a:prstGeom prst="rect">
            <a:avLst/>
          </a:prstGeom>
          <a:solidFill>
            <a:srgbClr val="101D31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2A692D-20D5-4763-AEC8-D5DC12045E3A}"/>
              </a:ext>
            </a:extLst>
          </p:cNvPr>
          <p:cNvSpPr>
            <a:spLocks noGrp="1"/>
          </p:cNvSpPr>
          <p:nvPr/>
        </p:nvSpPr>
        <p:spPr>
          <a:xfrm>
            <a:off x="1752600" y="45148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DELIVERY PATH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F721CE-C835-439D-AC74-7784C76EC2A7}"/>
              </a:ext>
            </a:extLst>
          </p:cNvPr>
          <p:cNvSpPr>
            <a:spLocks noGrp="1"/>
          </p:cNvSpPr>
          <p:nvPr/>
        </p:nvSpPr>
        <p:spPr>
          <a:xfrm>
            <a:off x="1752600" y="4810125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WebSocket snapshot updates when available  |  polling fallback when unavailable</a:t>
            </a:r>
          </a:p>
        </p:txBody>
      </p:sp>
      <p:sp>
        <p:nvSpPr>
          <p:cNvPr id="40" name="note-Adviser point">
            <a:extLst>
              <a:ext uri="{FF2B5EF4-FFF2-40B4-BE49-F238E27FC236}">
                <a16:creationId xmlns:a16="http://schemas.microsoft.com/office/drawing/2014/main" id="{6C8BBC62-84F1-4DF1-ADEF-C204E4CC2142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3048000" cy="990600"/>
          </a:xfrm>
          <a:prstGeom prst="rect">
            <a:avLst/>
          </a:prstGeom>
          <a:solidFill>
            <a:srgbClr val="16233A"/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77BFFA-FEB9-4212-A19F-404B09CB00CC}"/>
              </a:ext>
            </a:extLst>
          </p:cNvPr>
          <p:cNvSpPr>
            <a:spLocks noGrp="1"/>
          </p:cNvSpPr>
          <p:nvPr/>
        </p:nvSpPr>
        <p:spPr>
          <a:xfrm>
            <a:off x="8743950" y="539115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CC7414-3A42-4384-AB4F-7453AAEBCE62}"/>
              </a:ext>
            </a:extLst>
          </p:cNvPr>
          <p:cNvSpPr>
            <a:spLocks noGrp="1"/>
          </p:cNvSpPr>
          <p:nvPr/>
        </p:nvSpPr>
        <p:spPr>
          <a:xfrm>
            <a:off x="8743950" y="57150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Location is conditional, not automatic. Device permission, server consent, network, and freshness affect what command sees.</a:t>
            </a:r>
          </a:p>
        </p:txBody>
      </p:sp>
      <p:sp>
        <p:nvSpPr>
          <p:cNvPr id="43" name="footer-rule">
            <a:extLst>
              <a:ext uri="{FF2B5EF4-FFF2-40B4-BE49-F238E27FC236}">
                <a16:creationId xmlns:a16="http://schemas.microsoft.com/office/drawing/2014/main" id="{01B8542E-BB1E-4741-9EF8-0E7AD3A110F5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4FF7DB-9AED-4E3A-9938-35D2C3B3A8D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tracking, geofence, WebSocket, and polling flow in SYSTEM_FLOW_DIAGRAMS.md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A85795-52CE-4E6A-9D9F-EBCEB87B1FA8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6832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-background">
            <a:extLst>
              <a:ext uri="{FF2B5EF4-FFF2-40B4-BE49-F238E27FC236}">
                <a16:creationId xmlns:a16="http://schemas.microsoft.com/office/drawing/2014/main" id="{3A053B9C-30B4-49FE-8CC9-C77116B87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A4E1A2DD-6D4A-49B5-B26F-3BE1C8A6390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A6045D45-2348-4F71-B00E-FB31F54A150D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07 | RESOURCE CUSTODY</a:t>
            </a:r>
          </a:p>
        </p:txBody>
      </p:sp>
      <p:sp>
        <p:nvSpPr>
          <p:cNvPr id="4" name="claim-8">
            <a:extLst>
              <a:ext uri="{FF2B5EF4-FFF2-40B4-BE49-F238E27FC236}">
                <a16:creationId xmlns:a16="http://schemas.microsoft.com/office/drawing/2014/main" id="{4F496BC4-763F-428C-91FD-47C97649A20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Custody records keep firearms and equipment accountable.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56441-BF8D-4C11-A4AB-C2F2C9EE3B85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Resources move through controlled inventory, allocation, monitoring, and return states.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273EE268-8CB8-4C79-9B1E-F1DD1E22C99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RESOURCE LIFECYCLE">
            <a:extLst>
              <a:ext uri="{FF2B5EF4-FFF2-40B4-BE49-F238E27FC236}">
                <a16:creationId xmlns:a16="http://schemas.microsoft.com/office/drawing/2014/main" id="{68FCA432-82E3-4A46-A3BC-B44E072D2B2E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619250" cy="228600"/>
          </a:xfrm>
          <a:prstGeom prst="rect">
            <a:avLst/>
          </a:prstGeom>
          <a:solidFill>
            <a:srgbClr val="8DDBBC">
              <a:alpha val="13333"/>
            </a:srgbClr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50504-CFEA-4D14-B254-C3A89E244493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RESOURCE LIFECYCLE</a:t>
            </a:r>
          </a:p>
        </p:txBody>
      </p:sp>
      <p:sp>
        <p:nvSpPr>
          <p:cNvPr id="9" name="resource-1">
            <a:extLst>
              <a:ext uri="{FF2B5EF4-FFF2-40B4-BE49-F238E27FC236}">
                <a16:creationId xmlns:a16="http://schemas.microsoft.com/office/drawing/2014/main" id="{496E07FA-A450-4112-B5B7-0679D4F2AC71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790700" cy="857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source-1-marker">
            <a:extLst>
              <a:ext uri="{FF2B5EF4-FFF2-40B4-BE49-F238E27FC236}">
                <a16:creationId xmlns:a16="http://schemas.microsoft.com/office/drawing/2014/main" id="{62B2F056-D30A-4CBF-BCB5-6E4DE8E2FD5C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233C0-E190-4DF8-8E87-C44CA432686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03324-77B7-471B-8943-75CE5C0DA439}"/>
              </a:ext>
            </a:extLst>
          </p:cNvPr>
          <p:cNvSpPr>
            <a:spLocks noGrp="1"/>
          </p:cNvSpPr>
          <p:nvPr/>
        </p:nvSpPr>
        <p:spPr>
          <a:xfrm>
            <a:off x="1219200" y="3038475"/>
            <a:ext cx="1104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Inventory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Record identity,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status, permit</a:t>
            </a:r>
          </a:p>
        </p:txBody>
      </p:sp>
      <p:sp>
        <p:nvSpPr>
          <p:cNvPr id="13" name="resource-connector-1">
            <a:extLst>
              <a:ext uri="{FF2B5EF4-FFF2-40B4-BE49-F238E27FC236}">
                <a16:creationId xmlns:a16="http://schemas.microsoft.com/office/drawing/2014/main" id="{16B8D52C-EC0D-4E0A-8474-936F8D0CB8FB}"/>
              </a:ext>
            </a:extLst>
          </p:cNvPr>
          <p:cNvSpPr>
            <a:spLocks noGrp="1"/>
          </p:cNvSpPr>
          <p:nvPr/>
        </p:nvSpPr>
        <p:spPr>
          <a:xfrm>
            <a:off x="2476500" y="3333750"/>
            <a:ext cx="26670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source-connector-1-end">
            <a:extLst>
              <a:ext uri="{FF2B5EF4-FFF2-40B4-BE49-F238E27FC236}">
                <a16:creationId xmlns:a16="http://schemas.microsoft.com/office/drawing/2014/main" id="{B69254FB-4E0A-4166-99CB-F472831CDE3C}"/>
              </a:ext>
            </a:extLst>
          </p:cNvPr>
          <p:cNvSpPr>
            <a:spLocks noGrp="1"/>
          </p:cNvSpPr>
          <p:nvPr/>
        </p:nvSpPr>
        <p:spPr>
          <a:xfrm>
            <a:off x="27051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source-2">
            <a:extLst>
              <a:ext uri="{FF2B5EF4-FFF2-40B4-BE49-F238E27FC236}">
                <a16:creationId xmlns:a16="http://schemas.microsoft.com/office/drawing/2014/main" id="{DD72BA37-8C4D-4C3E-BBAB-3787BE34135B}"/>
              </a:ext>
            </a:extLst>
          </p:cNvPr>
          <p:cNvSpPr>
            <a:spLocks noGrp="1"/>
          </p:cNvSpPr>
          <p:nvPr/>
        </p:nvSpPr>
        <p:spPr>
          <a:xfrm>
            <a:off x="2762250" y="2914650"/>
            <a:ext cx="1790700" cy="857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source-2-marker">
            <a:extLst>
              <a:ext uri="{FF2B5EF4-FFF2-40B4-BE49-F238E27FC236}">
                <a16:creationId xmlns:a16="http://schemas.microsoft.com/office/drawing/2014/main" id="{FECA2C96-8B2B-4AA0-A785-35C2AB4C60DB}"/>
              </a:ext>
            </a:extLst>
          </p:cNvPr>
          <p:cNvSpPr>
            <a:spLocks noGrp="1"/>
          </p:cNvSpPr>
          <p:nvPr/>
        </p:nvSpPr>
        <p:spPr>
          <a:xfrm>
            <a:off x="2914650" y="30670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10938A-D9D5-44C9-A948-BAC76BD3AF2D}"/>
              </a:ext>
            </a:extLst>
          </p:cNvPr>
          <p:cNvSpPr>
            <a:spLocks noGrp="1"/>
          </p:cNvSpPr>
          <p:nvPr/>
        </p:nvSpPr>
        <p:spPr>
          <a:xfrm>
            <a:off x="2914650" y="3105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E4B77-3AAC-4E52-B401-4A5CF008E51E}"/>
              </a:ext>
            </a:extLst>
          </p:cNvPr>
          <p:cNvSpPr>
            <a:spLocks noGrp="1"/>
          </p:cNvSpPr>
          <p:nvPr/>
        </p:nvSpPr>
        <p:spPr>
          <a:xfrm>
            <a:off x="3314700" y="3038475"/>
            <a:ext cx="1104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Allocate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Assign resource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to approved guard</a:t>
            </a:r>
          </a:p>
        </p:txBody>
      </p:sp>
      <p:sp>
        <p:nvSpPr>
          <p:cNvPr id="19" name="resource-connector-2">
            <a:extLst>
              <a:ext uri="{FF2B5EF4-FFF2-40B4-BE49-F238E27FC236}">
                <a16:creationId xmlns:a16="http://schemas.microsoft.com/office/drawing/2014/main" id="{76829DA8-803D-42FC-9164-BDE1F276F91B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26670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source-connector-2-end">
            <a:extLst>
              <a:ext uri="{FF2B5EF4-FFF2-40B4-BE49-F238E27FC236}">
                <a16:creationId xmlns:a16="http://schemas.microsoft.com/office/drawing/2014/main" id="{DD68BA0E-3E2C-41B8-B28E-7FC49EC4EDEB}"/>
              </a:ext>
            </a:extLst>
          </p:cNvPr>
          <p:cNvSpPr>
            <a:spLocks noGrp="1"/>
          </p:cNvSpPr>
          <p:nvPr/>
        </p:nvSpPr>
        <p:spPr>
          <a:xfrm>
            <a:off x="48006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source-3">
            <a:extLst>
              <a:ext uri="{FF2B5EF4-FFF2-40B4-BE49-F238E27FC236}">
                <a16:creationId xmlns:a16="http://schemas.microsoft.com/office/drawing/2014/main" id="{71DD0239-56CA-4CB0-9F94-D4FFFFE90B09}"/>
              </a:ext>
            </a:extLst>
          </p:cNvPr>
          <p:cNvSpPr>
            <a:spLocks noGrp="1"/>
          </p:cNvSpPr>
          <p:nvPr/>
        </p:nvSpPr>
        <p:spPr>
          <a:xfrm>
            <a:off x="4857750" y="2914650"/>
            <a:ext cx="1790700" cy="857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source-3-marker">
            <a:extLst>
              <a:ext uri="{FF2B5EF4-FFF2-40B4-BE49-F238E27FC236}">
                <a16:creationId xmlns:a16="http://schemas.microsoft.com/office/drawing/2014/main" id="{B46D570C-4635-47E8-9032-DB63B28C5640}"/>
              </a:ext>
            </a:extLst>
          </p:cNvPr>
          <p:cNvSpPr>
            <a:spLocks noGrp="1"/>
          </p:cNvSpPr>
          <p:nvPr/>
        </p:nvSpPr>
        <p:spPr>
          <a:xfrm>
            <a:off x="5010150" y="30670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8CD59E-1D27-42CD-A100-0EB8DD0C202F}"/>
              </a:ext>
            </a:extLst>
          </p:cNvPr>
          <p:cNvSpPr>
            <a:spLocks noGrp="1"/>
          </p:cNvSpPr>
          <p:nvPr/>
        </p:nvSpPr>
        <p:spPr>
          <a:xfrm>
            <a:off x="5010150" y="3105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C9C8D9-CFE6-412A-A14E-C15C1C26DD6F}"/>
              </a:ext>
            </a:extLst>
          </p:cNvPr>
          <p:cNvSpPr>
            <a:spLocks noGrp="1"/>
          </p:cNvSpPr>
          <p:nvPr/>
        </p:nvSpPr>
        <p:spPr>
          <a:xfrm>
            <a:off x="5410200" y="3038475"/>
            <a:ext cx="1104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Use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Guard sees assigned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resource and duty</a:t>
            </a:r>
          </a:p>
        </p:txBody>
      </p:sp>
      <p:sp>
        <p:nvSpPr>
          <p:cNvPr id="25" name="resource-connector-3">
            <a:extLst>
              <a:ext uri="{FF2B5EF4-FFF2-40B4-BE49-F238E27FC236}">
                <a16:creationId xmlns:a16="http://schemas.microsoft.com/office/drawing/2014/main" id="{8113E892-B913-44BD-93C7-D734DA0CC942}"/>
              </a:ext>
            </a:extLst>
          </p:cNvPr>
          <p:cNvSpPr>
            <a:spLocks noGrp="1"/>
          </p:cNvSpPr>
          <p:nvPr/>
        </p:nvSpPr>
        <p:spPr>
          <a:xfrm>
            <a:off x="6667500" y="3333750"/>
            <a:ext cx="26670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source-connector-3-end">
            <a:extLst>
              <a:ext uri="{FF2B5EF4-FFF2-40B4-BE49-F238E27FC236}">
                <a16:creationId xmlns:a16="http://schemas.microsoft.com/office/drawing/2014/main" id="{AE74A55A-9B65-4255-81B8-C22B23297929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source-4">
            <a:extLst>
              <a:ext uri="{FF2B5EF4-FFF2-40B4-BE49-F238E27FC236}">
                <a16:creationId xmlns:a16="http://schemas.microsoft.com/office/drawing/2014/main" id="{A4BF42E6-5C45-46A3-963F-CBFCA5F6682F}"/>
              </a:ext>
            </a:extLst>
          </p:cNvPr>
          <p:cNvSpPr>
            <a:spLocks noGrp="1"/>
          </p:cNvSpPr>
          <p:nvPr/>
        </p:nvSpPr>
        <p:spPr>
          <a:xfrm>
            <a:off x="6953250" y="2914650"/>
            <a:ext cx="1790700" cy="857250"/>
          </a:xfrm>
          <a:prstGeom prst="rect">
            <a:avLst/>
          </a:prstGeom>
          <a:solidFill>
            <a:srgbClr val="2A1D25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source-4-marker">
            <a:extLst>
              <a:ext uri="{FF2B5EF4-FFF2-40B4-BE49-F238E27FC236}">
                <a16:creationId xmlns:a16="http://schemas.microsoft.com/office/drawing/2014/main" id="{4305B4D6-DF44-43AD-80D7-CC194BB6D333}"/>
              </a:ext>
            </a:extLst>
          </p:cNvPr>
          <p:cNvSpPr>
            <a:spLocks noGrp="1"/>
          </p:cNvSpPr>
          <p:nvPr/>
        </p:nvSpPr>
        <p:spPr>
          <a:xfrm>
            <a:off x="7105650" y="3067050"/>
            <a:ext cx="266700" cy="2667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4A477D-EF49-4CBD-894D-DA2BBF5752F5}"/>
              </a:ext>
            </a:extLst>
          </p:cNvPr>
          <p:cNvSpPr>
            <a:spLocks noGrp="1"/>
          </p:cNvSpPr>
          <p:nvPr/>
        </p:nvSpPr>
        <p:spPr>
          <a:xfrm>
            <a:off x="7105650" y="3105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1A5230-FCF0-4CC2-A242-58180651C85A}"/>
              </a:ext>
            </a:extLst>
          </p:cNvPr>
          <p:cNvSpPr>
            <a:spLocks noGrp="1"/>
          </p:cNvSpPr>
          <p:nvPr/>
        </p:nvSpPr>
        <p:spPr>
          <a:xfrm>
            <a:off x="7505700" y="3038475"/>
            <a:ext cx="1104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Monitor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Compliance, expiry,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31" name="resource-connector-4">
            <a:extLst>
              <a:ext uri="{FF2B5EF4-FFF2-40B4-BE49-F238E27FC236}">
                <a16:creationId xmlns:a16="http://schemas.microsoft.com/office/drawing/2014/main" id="{E19428BE-1B9C-402D-AA8C-DF60875DEC6A}"/>
              </a:ext>
            </a:extLst>
          </p:cNvPr>
          <p:cNvSpPr>
            <a:spLocks noGrp="1"/>
          </p:cNvSpPr>
          <p:nvPr/>
        </p:nvSpPr>
        <p:spPr>
          <a:xfrm>
            <a:off x="8763000" y="3333750"/>
            <a:ext cx="266700" cy="19050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source-connector-4-end">
            <a:extLst>
              <a:ext uri="{FF2B5EF4-FFF2-40B4-BE49-F238E27FC236}">
                <a16:creationId xmlns:a16="http://schemas.microsoft.com/office/drawing/2014/main" id="{B245666E-A124-44DD-A65C-EECA728E71EC}"/>
              </a:ext>
            </a:extLst>
          </p:cNvPr>
          <p:cNvSpPr>
            <a:spLocks noGrp="1"/>
          </p:cNvSpPr>
          <p:nvPr/>
        </p:nvSpPr>
        <p:spPr>
          <a:xfrm>
            <a:off x="8991600" y="3305175"/>
            <a:ext cx="76200" cy="76200"/>
          </a:xfrm>
          <a:prstGeom prst="ellipse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source-5">
            <a:extLst>
              <a:ext uri="{FF2B5EF4-FFF2-40B4-BE49-F238E27FC236}">
                <a16:creationId xmlns:a16="http://schemas.microsoft.com/office/drawing/2014/main" id="{23101C67-F800-40C6-9BDD-98066590046B}"/>
              </a:ext>
            </a:extLst>
          </p:cNvPr>
          <p:cNvSpPr>
            <a:spLocks noGrp="1"/>
          </p:cNvSpPr>
          <p:nvPr/>
        </p:nvSpPr>
        <p:spPr>
          <a:xfrm>
            <a:off x="9048750" y="2914650"/>
            <a:ext cx="1790700" cy="8572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source-5-marker">
            <a:extLst>
              <a:ext uri="{FF2B5EF4-FFF2-40B4-BE49-F238E27FC236}">
                <a16:creationId xmlns:a16="http://schemas.microsoft.com/office/drawing/2014/main" id="{EB8086C3-8440-48A0-B661-58FBE5D8BF32}"/>
              </a:ext>
            </a:extLst>
          </p:cNvPr>
          <p:cNvSpPr>
            <a:spLocks noGrp="1"/>
          </p:cNvSpPr>
          <p:nvPr/>
        </p:nvSpPr>
        <p:spPr>
          <a:xfrm>
            <a:off x="9201150" y="306705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9530BF-C431-4F09-BD00-9906A961EC75}"/>
              </a:ext>
            </a:extLst>
          </p:cNvPr>
          <p:cNvSpPr>
            <a:spLocks noGrp="1"/>
          </p:cNvSpPr>
          <p:nvPr/>
        </p:nvSpPr>
        <p:spPr>
          <a:xfrm>
            <a:off x="9201150" y="3105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E73083-6E85-4B6B-8868-6EB0258C9A9E}"/>
              </a:ext>
            </a:extLst>
          </p:cNvPr>
          <p:cNvSpPr>
            <a:spLocks noGrp="1"/>
          </p:cNvSpPr>
          <p:nvPr/>
        </p:nvSpPr>
        <p:spPr>
          <a:xfrm>
            <a:off x="9601200" y="3038475"/>
            <a:ext cx="1104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Return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Custody ends and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status is updated</a:t>
            </a:r>
          </a:p>
        </p:txBody>
      </p:sp>
      <p:sp>
        <p:nvSpPr>
          <p:cNvPr id="37" name="lane-REPORTING VIEWS">
            <a:extLst>
              <a:ext uri="{FF2B5EF4-FFF2-40B4-BE49-F238E27FC236}">
                <a16:creationId xmlns:a16="http://schemas.microsoft.com/office/drawing/2014/main" id="{3B53104B-E603-48ED-8B2A-6A13984C301E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96012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ane-REPORTING VIEWS-accent">
            <a:extLst>
              <a:ext uri="{FF2B5EF4-FFF2-40B4-BE49-F238E27FC236}">
                <a16:creationId xmlns:a16="http://schemas.microsoft.com/office/drawing/2014/main" id="{AD5A9AF8-68DB-42E4-8916-6D9E017826DD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76200" cy="95250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102C9E-E7CD-4F24-82AD-8889C384408A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9220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REPORTING VIEWS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537550-0290-4F6C-BCE9-16E0FD1C219F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AEC2E0-D3AD-4B71-BBD6-623276C03AD0}"/>
              </a:ext>
            </a:extLst>
          </p:cNvPr>
          <p:cNvSpPr>
            <a:spLocks noGrp="1"/>
          </p:cNvSpPr>
          <p:nvPr/>
        </p:nvSpPr>
        <p:spPr>
          <a:xfrm>
            <a:off x="2952750" y="47625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Current holder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CD4735-E2C9-4032-90F1-11D85409758D}"/>
              </a:ext>
            </a:extLst>
          </p:cNvPr>
          <p:cNvSpPr>
            <a:spLocks noGrp="1"/>
          </p:cNvSpPr>
          <p:nvPr/>
        </p:nvSpPr>
        <p:spPr>
          <a:xfrm>
            <a:off x="5048250" y="47625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Permit expiry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BFCC49-48FE-4D30-AA65-3378855F229A}"/>
              </a:ext>
            </a:extLst>
          </p:cNvPr>
          <p:cNvSpPr>
            <a:spLocks noGrp="1"/>
          </p:cNvSpPr>
          <p:nvPr/>
        </p:nvSpPr>
        <p:spPr>
          <a:xfrm>
            <a:off x="7067550" y="47625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44" name="note-Adviser point">
            <a:extLst>
              <a:ext uri="{FF2B5EF4-FFF2-40B4-BE49-F238E27FC236}">
                <a16:creationId xmlns:a16="http://schemas.microsoft.com/office/drawing/2014/main" id="{BDB5EF2B-77E6-4CD1-A216-EAA8B1A71E0E}"/>
              </a:ext>
            </a:extLst>
          </p:cNvPr>
          <p:cNvSpPr>
            <a:spLocks noGrp="1"/>
          </p:cNvSpPr>
          <p:nvPr/>
        </p:nvSpPr>
        <p:spPr>
          <a:xfrm>
            <a:off x="8572500" y="5429250"/>
            <a:ext cx="3048000" cy="857250"/>
          </a:xfrm>
          <a:prstGeom prst="rect">
            <a:avLst/>
          </a:prstGeom>
          <a:solidFill>
            <a:srgbClr val="16233A"/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041EA1-BBCC-42ED-9A4E-B71273569ABE}"/>
              </a:ext>
            </a:extLst>
          </p:cNvPr>
          <p:cNvSpPr>
            <a:spLocks noGrp="1"/>
          </p:cNvSpPr>
          <p:nvPr/>
        </p:nvSpPr>
        <p:spPr>
          <a:xfrm>
            <a:off x="8743950" y="56007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E6DE0CD-7AC5-40FD-A4C0-86E021914850}"/>
              </a:ext>
            </a:extLst>
          </p:cNvPr>
          <p:cNvSpPr>
            <a:spLocks noGrp="1"/>
          </p:cNvSpPr>
          <p:nvPr/>
        </p:nvSpPr>
        <p:spPr>
          <a:xfrm>
            <a:off x="8743950" y="5924550"/>
            <a:ext cx="270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Reports show what is usable and who is responsible.</a:t>
            </a:r>
          </a:p>
        </p:txBody>
      </p:sp>
      <p:sp>
        <p:nvSpPr>
          <p:cNvPr id="47" name="footer-rule">
            <a:extLst>
              <a:ext uri="{FF2B5EF4-FFF2-40B4-BE49-F238E27FC236}">
                <a16:creationId xmlns:a16="http://schemas.microsoft.com/office/drawing/2014/main" id="{F816EC49-6EE9-4165-9BDE-8CBB671C7A2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3EA99B-3D56-4D27-9483-5524BCB2E97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firearm compliance and resource management modules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FFA390-EFA7-4A1D-B389-D56C0BB7B029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689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-background">
            <a:extLst>
              <a:ext uri="{FF2B5EF4-FFF2-40B4-BE49-F238E27FC236}">
                <a16:creationId xmlns:a16="http://schemas.microsoft.com/office/drawing/2014/main" id="{637D93CF-E8C8-4E5D-AA51-645C3E05E6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D4731601-6E67-49DA-BF6F-5F17897FFDA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5C083090-6FD4-40BE-A2BA-037D5FEE5EE6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08 | REQUEST / APPROVAL</a:t>
            </a:r>
          </a:p>
        </p:txBody>
      </p:sp>
      <p:sp>
        <p:nvSpPr>
          <p:cNvPr id="4" name="claim-9">
            <a:extLst>
              <a:ext uri="{FF2B5EF4-FFF2-40B4-BE49-F238E27FC236}">
                <a16:creationId xmlns:a16="http://schemas.microsoft.com/office/drawing/2014/main" id="{D1465184-13F3-4227-9C7B-10D0AD9A5BC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Requests move through human approval before fulfillment.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FB01C-F4AF-4140-9BB6-2159B4017E99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The workflow separates submission, review, correction, fulfillment, and final completion.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43D11B8A-D6EA-4F9A-B605-2D3FE58DECBE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PHASE 4 WORKFLOW">
            <a:extLst>
              <a:ext uri="{FF2B5EF4-FFF2-40B4-BE49-F238E27FC236}">
                <a16:creationId xmlns:a16="http://schemas.microsoft.com/office/drawing/2014/main" id="{9972B096-02B2-4FEB-AE25-FFCE26591F74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562100" cy="228600"/>
          </a:xfrm>
          <a:prstGeom prst="rect">
            <a:avLst/>
          </a:prstGeom>
          <a:solidFill>
            <a:srgbClr val="F4B860">
              <a:alpha val="13333"/>
            </a:srgbClr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DCC4B3-3108-4F97-89AB-32B0F074F935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PHASE 4 WORKFLOW</a:t>
            </a:r>
          </a:p>
        </p:txBody>
      </p:sp>
      <p:sp>
        <p:nvSpPr>
          <p:cNvPr id="9" name="request-submit">
            <a:extLst>
              <a:ext uri="{FF2B5EF4-FFF2-40B4-BE49-F238E27FC236}">
                <a16:creationId xmlns:a16="http://schemas.microsoft.com/office/drawing/2014/main" id="{0D0EBAD1-4453-4D76-AD47-974C7E451CC4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65735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quest-submit-marker">
            <a:extLst>
              <a:ext uri="{FF2B5EF4-FFF2-40B4-BE49-F238E27FC236}">
                <a16:creationId xmlns:a16="http://schemas.microsoft.com/office/drawing/2014/main" id="{5B07A28F-D6E4-47DF-9589-6051AB3CC308}"/>
              </a:ext>
            </a:extLst>
          </p:cNvPr>
          <p:cNvSpPr>
            <a:spLocks noGrp="1"/>
          </p:cNvSpPr>
          <p:nvPr/>
        </p:nvSpPr>
        <p:spPr>
          <a:xfrm>
            <a:off x="819150" y="300990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8B1C74-4B82-4C1A-88B6-4411222297C3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9F1AA-B429-40C8-B7CE-85BD5EE5DC14}"/>
              </a:ext>
            </a:extLst>
          </p:cNvPr>
          <p:cNvSpPr>
            <a:spLocks noGrp="1"/>
          </p:cNvSpPr>
          <p:nvPr/>
        </p:nvSpPr>
        <p:spPr>
          <a:xfrm>
            <a:off x="1219200" y="2981325"/>
            <a:ext cx="971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Guard or user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submits request</a:t>
            </a:r>
          </a:p>
        </p:txBody>
      </p:sp>
      <p:sp>
        <p:nvSpPr>
          <p:cNvPr id="13" name="request-1">
            <a:extLst>
              <a:ext uri="{FF2B5EF4-FFF2-40B4-BE49-F238E27FC236}">
                <a16:creationId xmlns:a16="http://schemas.microsoft.com/office/drawing/2014/main" id="{361852E7-7FD0-4E9F-BF24-0B5DC9295030}"/>
              </a:ext>
            </a:extLst>
          </p:cNvPr>
          <p:cNvSpPr>
            <a:spLocks noGrp="1"/>
          </p:cNvSpPr>
          <p:nvPr/>
        </p:nvSpPr>
        <p:spPr>
          <a:xfrm>
            <a:off x="2343150" y="3219450"/>
            <a:ext cx="40005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quest-1-end">
            <a:extLst>
              <a:ext uri="{FF2B5EF4-FFF2-40B4-BE49-F238E27FC236}">
                <a16:creationId xmlns:a16="http://schemas.microsoft.com/office/drawing/2014/main" id="{5E7FE44D-4634-4257-A518-DDECAF58BA00}"/>
              </a:ext>
            </a:extLst>
          </p:cNvPr>
          <p:cNvSpPr>
            <a:spLocks noGrp="1"/>
          </p:cNvSpPr>
          <p:nvPr/>
        </p:nvSpPr>
        <p:spPr>
          <a:xfrm>
            <a:off x="2705100" y="3190875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quest-pending">
            <a:extLst>
              <a:ext uri="{FF2B5EF4-FFF2-40B4-BE49-F238E27FC236}">
                <a16:creationId xmlns:a16="http://schemas.microsoft.com/office/drawing/2014/main" id="{35792AB3-308F-43D3-BB19-6950540978BC}"/>
              </a:ext>
            </a:extLst>
          </p:cNvPr>
          <p:cNvSpPr>
            <a:spLocks noGrp="1"/>
          </p:cNvSpPr>
          <p:nvPr/>
        </p:nvSpPr>
        <p:spPr>
          <a:xfrm>
            <a:off x="2762250" y="2857500"/>
            <a:ext cx="142875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quest-pending-marker">
            <a:extLst>
              <a:ext uri="{FF2B5EF4-FFF2-40B4-BE49-F238E27FC236}">
                <a16:creationId xmlns:a16="http://schemas.microsoft.com/office/drawing/2014/main" id="{688AFE88-FBCF-44EB-A2ED-62CF787ADA3A}"/>
              </a:ext>
            </a:extLst>
          </p:cNvPr>
          <p:cNvSpPr>
            <a:spLocks noGrp="1"/>
          </p:cNvSpPr>
          <p:nvPr/>
        </p:nvSpPr>
        <p:spPr>
          <a:xfrm>
            <a:off x="291465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BC48F7-1831-4B0A-8CD1-BB6C400D1923}"/>
              </a:ext>
            </a:extLst>
          </p:cNvPr>
          <p:cNvSpPr>
            <a:spLocks noGrp="1"/>
          </p:cNvSpPr>
          <p:nvPr/>
        </p:nvSpPr>
        <p:spPr>
          <a:xfrm>
            <a:off x="29146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3DF8B7-4BCE-4FD3-BB72-1B7A538468F4}"/>
              </a:ext>
            </a:extLst>
          </p:cNvPr>
          <p:cNvSpPr>
            <a:spLocks noGrp="1"/>
          </p:cNvSpPr>
          <p:nvPr/>
        </p:nvSpPr>
        <p:spPr>
          <a:xfrm>
            <a:off x="3314700" y="2981325"/>
            <a:ext cx="742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Pending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request-2">
            <a:extLst>
              <a:ext uri="{FF2B5EF4-FFF2-40B4-BE49-F238E27FC236}">
                <a16:creationId xmlns:a16="http://schemas.microsoft.com/office/drawing/2014/main" id="{7E1AE6D3-A059-48A7-876A-9958F9CDE96F}"/>
              </a:ext>
            </a:extLst>
          </p:cNvPr>
          <p:cNvSpPr>
            <a:spLocks noGrp="1"/>
          </p:cNvSpPr>
          <p:nvPr/>
        </p:nvSpPr>
        <p:spPr>
          <a:xfrm>
            <a:off x="4210050" y="3219450"/>
            <a:ext cx="4000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quest-2-end">
            <a:extLst>
              <a:ext uri="{FF2B5EF4-FFF2-40B4-BE49-F238E27FC236}">
                <a16:creationId xmlns:a16="http://schemas.microsoft.com/office/drawing/2014/main" id="{185518F4-1789-4672-8A5D-1882EBC3F56F}"/>
              </a:ext>
            </a:extLst>
          </p:cNvPr>
          <p:cNvSpPr>
            <a:spLocks noGrp="1"/>
          </p:cNvSpPr>
          <p:nvPr/>
        </p:nvSpPr>
        <p:spPr>
          <a:xfrm>
            <a:off x="4572000" y="3190875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quest-review">
            <a:extLst>
              <a:ext uri="{FF2B5EF4-FFF2-40B4-BE49-F238E27FC236}">
                <a16:creationId xmlns:a16="http://schemas.microsoft.com/office/drawing/2014/main" id="{795D92E1-7802-468B-90D7-987DAEC8E94E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182880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quest-review-marker">
            <a:extLst>
              <a:ext uri="{FF2B5EF4-FFF2-40B4-BE49-F238E27FC236}">
                <a16:creationId xmlns:a16="http://schemas.microsoft.com/office/drawing/2014/main" id="{917A4035-72A6-4B76-9AA4-2AAFCA2CA83A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F3F5F4-4E7F-4BDE-9906-892A609D1346}"/>
              </a:ext>
            </a:extLst>
          </p:cNvPr>
          <p:cNvSpPr>
            <a:spLocks noGrp="1"/>
          </p:cNvSpPr>
          <p:nvPr/>
        </p:nvSpPr>
        <p:spPr>
          <a:xfrm>
            <a:off x="47815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B44986-1039-4D4B-92A1-13ADD59A4410}"/>
              </a:ext>
            </a:extLst>
          </p:cNvPr>
          <p:cNvSpPr>
            <a:spLocks noGrp="1"/>
          </p:cNvSpPr>
          <p:nvPr/>
        </p:nvSpPr>
        <p:spPr>
          <a:xfrm>
            <a:off x="5181600" y="2981325"/>
            <a:ext cx="114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Supervisor / admin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decides</a:t>
            </a:r>
          </a:p>
        </p:txBody>
      </p:sp>
      <p:sp>
        <p:nvSpPr>
          <p:cNvPr id="25" name="request-correction-branch">
            <a:extLst>
              <a:ext uri="{FF2B5EF4-FFF2-40B4-BE49-F238E27FC236}">
                <a16:creationId xmlns:a16="http://schemas.microsoft.com/office/drawing/2014/main" id="{4CF02018-FABA-4AF8-A7F0-D86FC750B354}"/>
              </a:ext>
            </a:extLst>
          </p:cNvPr>
          <p:cNvSpPr>
            <a:spLocks noGrp="1"/>
          </p:cNvSpPr>
          <p:nvPr/>
        </p:nvSpPr>
        <p:spPr>
          <a:xfrm>
            <a:off x="5543550" y="3600450"/>
            <a:ext cx="19050" cy="19050"/>
          </a:xfrm>
          <a:prstGeom prst="rect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EC9B8A-8BE6-423B-A468-A18FF6FC2DAF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F18A82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F18A82"/>
                </a:solidFill>
                <a:latin typeface="Courier New"/>
                <a:ea typeface="Courier New"/>
                <a:cs typeface="Courier New"/>
              </a:rPr>
              <a:t>return for correction</a:t>
            </a:r>
          </a:p>
        </p:txBody>
      </p:sp>
      <p:sp>
        <p:nvSpPr>
          <p:cNvPr id="27" name="request-3">
            <a:extLst>
              <a:ext uri="{FF2B5EF4-FFF2-40B4-BE49-F238E27FC236}">
                <a16:creationId xmlns:a16="http://schemas.microsoft.com/office/drawing/2014/main" id="{9B113112-06CC-45C6-A509-9B295CC279D0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40005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quest-3-end">
            <a:extLst>
              <a:ext uri="{FF2B5EF4-FFF2-40B4-BE49-F238E27FC236}">
                <a16:creationId xmlns:a16="http://schemas.microsoft.com/office/drawing/2014/main" id="{BCA69ADF-BC47-4815-91F5-68C7D3DC0033}"/>
              </a:ext>
            </a:extLst>
          </p:cNvPr>
          <p:cNvSpPr>
            <a:spLocks noGrp="1"/>
          </p:cNvSpPr>
          <p:nvPr/>
        </p:nvSpPr>
        <p:spPr>
          <a:xfrm>
            <a:off x="6838950" y="3190875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quest-approved">
            <a:extLst>
              <a:ext uri="{FF2B5EF4-FFF2-40B4-BE49-F238E27FC236}">
                <a16:creationId xmlns:a16="http://schemas.microsoft.com/office/drawing/2014/main" id="{12C8FD7F-CD60-46F0-9416-72451D554994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1333500" cy="723900"/>
          </a:xfrm>
          <a:prstGeom prst="rect">
            <a:avLst/>
          </a:prstGeom>
          <a:solidFill>
            <a:srgbClr val="142B2A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quest-approved-marker">
            <a:extLst>
              <a:ext uri="{FF2B5EF4-FFF2-40B4-BE49-F238E27FC236}">
                <a16:creationId xmlns:a16="http://schemas.microsoft.com/office/drawing/2014/main" id="{9B9B216C-1E8C-4E86-AE9A-72314C48FF0C}"/>
              </a:ext>
            </a:extLst>
          </p:cNvPr>
          <p:cNvSpPr>
            <a:spLocks noGrp="1"/>
          </p:cNvSpPr>
          <p:nvPr/>
        </p:nvSpPr>
        <p:spPr>
          <a:xfrm>
            <a:off x="7048500" y="30099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E885D8-FD07-44D8-864B-C1F57DA080FA}"/>
              </a:ext>
            </a:extLst>
          </p:cNvPr>
          <p:cNvSpPr>
            <a:spLocks noGrp="1"/>
          </p:cNvSpPr>
          <p:nvPr/>
        </p:nvSpPr>
        <p:spPr>
          <a:xfrm>
            <a:off x="704850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0E2A6E-B595-44D7-899F-C7811FC42490}"/>
              </a:ext>
            </a:extLst>
          </p:cNvPr>
          <p:cNvSpPr>
            <a:spLocks noGrp="1"/>
          </p:cNvSpPr>
          <p:nvPr/>
        </p:nvSpPr>
        <p:spPr>
          <a:xfrm>
            <a:off x="7448550" y="2981325"/>
            <a:ext cx="647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33" name="request-4">
            <a:extLst>
              <a:ext uri="{FF2B5EF4-FFF2-40B4-BE49-F238E27FC236}">
                <a16:creationId xmlns:a16="http://schemas.microsoft.com/office/drawing/2014/main" id="{E31A609D-B3DF-422F-9AE6-033ECB9E9D00}"/>
              </a:ext>
            </a:extLst>
          </p:cNvPr>
          <p:cNvSpPr>
            <a:spLocks noGrp="1"/>
          </p:cNvSpPr>
          <p:nvPr/>
        </p:nvSpPr>
        <p:spPr>
          <a:xfrm>
            <a:off x="8248650" y="3219450"/>
            <a:ext cx="40005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quest-4-end">
            <a:extLst>
              <a:ext uri="{FF2B5EF4-FFF2-40B4-BE49-F238E27FC236}">
                <a16:creationId xmlns:a16="http://schemas.microsoft.com/office/drawing/2014/main" id="{4850C7AC-8F36-4510-9B2B-D3D048DF231B}"/>
              </a:ext>
            </a:extLst>
          </p:cNvPr>
          <p:cNvSpPr>
            <a:spLocks noGrp="1"/>
          </p:cNvSpPr>
          <p:nvPr/>
        </p:nvSpPr>
        <p:spPr>
          <a:xfrm>
            <a:off x="8610600" y="3190875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quest-complete">
            <a:extLst>
              <a:ext uri="{FF2B5EF4-FFF2-40B4-BE49-F238E27FC236}">
                <a16:creationId xmlns:a16="http://schemas.microsoft.com/office/drawing/2014/main" id="{EBED14B6-FDD6-4A0F-9EAE-80AE52B94BA8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1752600" cy="723900"/>
          </a:xfrm>
          <a:prstGeom prst="rect">
            <a:avLst/>
          </a:prstGeom>
          <a:solidFill>
            <a:srgbClr val="142B2A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quest-complete-marker">
            <a:extLst>
              <a:ext uri="{FF2B5EF4-FFF2-40B4-BE49-F238E27FC236}">
                <a16:creationId xmlns:a16="http://schemas.microsoft.com/office/drawing/2014/main" id="{A6983B13-955C-469C-AF50-AE62A5E1F23C}"/>
              </a:ext>
            </a:extLst>
          </p:cNvPr>
          <p:cNvSpPr>
            <a:spLocks noGrp="1"/>
          </p:cNvSpPr>
          <p:nvPr/>
        </p:nvSpPr>
        <p:spPr>
          <a:xfrm>
            <a:off x="8820150" y="30099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D461F5-6000-4AF3-BBF0-95311A2CF143}"/>
              </a:ext>
            </a:extLst>
          </p:cNvPr>
          <p:cNvSpPr>
            <a:spLocks noGrp="1"/>
          </p:cNvSpPr>
          <p:nvPr/>
        </p:nvSpPr>
        <p:spPr>
          <a:xfrm>
            <a:off x="8820150" y="30480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B396A5-1DE8-495C-9950-DCA576601BAA}"/>
              </a:ext>
            </a:extLst>
          </p:cNvPr>
          <p:cNvSpPr>
            <a:spLocks noGrp="1"/>
          </p:cNvSpPr>
          <p:nvPr/>
        </p:nvSpPr>
        <p:spPr>
          <a:xfrm>
            <a:off x="9220200" y="2981325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Admin starts +</a:t>
            </a:r>
          </a:p>
          <a:p>
            <a:pPr algn="l">
              <a:defRPr sz="105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completes</a:t>
            </a:r>
          </a:p>
        </p:txBody>
      </p:sp>
      <p:sp>
        <p:nvSpPr>
          <p:cNvPr id="39" name="request-audit">
            <a:extLst>
              <a:ext uri="{FF2B5EF4-FFF2-40B4-BE49-F238E27FC236}">
                <a16:creationId xmlns:a16="http://schemas.microsoft.com/office/drawing/2014/main" id="{8D004969-E767-4306-A40A-B782403DC092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7239000" cy="819150"/>
          </a:xfrm>
          <a:prstGeom prst="rect">
            <a:avLst/>
          </a:prstGeom>
          <a:solidFill>
            <a:srgbClr val="101D31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A217A7-22FC-4D17-AA83-F8769893CDE1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ALWAYS PERSISTED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FB00FB-BC29-4181-A259-33277CA0D1F6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657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Request status  |  decision reason  |  chronological events  |  notifications  |  custody update when applicable</a:t>
            </a:r>
          </a:p>
        </p:txBody>
      </p:sp>
      <p:sp>
        <p:nvSpPr>
          <p:cNvPr id="42" name="note-Adviser point">
            <a:extLst>
              <a:ext uri="{FF2B5EF4-FFF2-40B4-BE49-F238E27FC236}">
                <a16:creationId xmlns:a16="http://schemas.microsoft.com/office/drawing/2014/main" id="{108BF26C-3552-4055-9065-34B7CDE68601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3048000" cy="1428750"/>
          </a:xfrm>
          <a:prstGeom prst="rect">
            <a:avLst/>
          </a:prstGeom>
          <a:solidFill>
            <a:srgbClr val="16233A"/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A200F2-87BB-49A9-B3A4-F42BB6147053}"/>
              </a:ext>
            </a:extLst>
          </p:cNvPr>
          <p:cNvSpPr>
            <a:spLocks noGrp="1"/>
          </p:cNvSpPr>
          <p:nvPr/>
        </p:nvSpPr>
        <p:spPr>
          <a:xfrm>
            <a:off x="8743950" y="4457700"/>
            <a:ext cx="2705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A84A28-2F89-48D6-A4D0-CF2BB42D1474}"/>
              </a:ext>
            </a:extLst>
          </p:cNvPr>
          <p:cNvSpPr>
            <a:spLocks noGrp="1"/>
          </p:cNvSpPr>
          <p:nvPr/>
        </p:nvSpPr>
        <p:spPr>
          <a:xfrm>
            <a:off x="8743950" y="4781550"/>
            <a:ext cx="27051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Approval does not mean automatic execution. A designated administrator must start and complete fulfillment, while the system records each transition.</a:t>
            </a:r>
          </a:p>
        </p:txBody>
      </p:sp>
      <p:sp>
        <p:nvSpPr>
          <p:cNvPr id="45" name="footer-rule">
            <a:extLst>
              <a:ext uri="{FF2B5EF4-FFF2-40B4-BE49-F238E27FC236}">
                <a16:creationId xmlns:a16="http://schemas.microsoft.com/office/drawing/2014/main" id="{BED90B7A-8AC4-4671-89A5-DD5998DB9FB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450D62-5450-40A4-89D4-B22EF5C598F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operational request and approval workflow implemented in Phase 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762D32-BAA9-485E-8770-F1CAD5DBEE09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187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-background">
            <a:extLst>
              <a:ext uri="{FF2B5EF4-FFF2-40B4-BE49-F238E27FC236}">
                <a16:creationId xmlns:a16="http://schemas.microsoft.com/office/drawing/2014/main" id="{812B8F61-50C3-46D8-8DD9-75522287CF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E0D5D40-8C7C-4EF7-BE93-607FBC18A23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5770342F-AFFF-46F3-8E50-42262C006AB6}"/>
              </a:ext>
            </a:extLst>
          </p:cNvPr>
          <p:cNvSpPr>
            <a:spLocks noGrp="1"/>
          </p:cNvSpPr>
          <p:nvPr/>
        </p:nvSpPr>
        <p:spPr>
          <a:xfrm>
            <a:off x="742950" y="40957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4C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4C8E8"/>
                </a:solidFill>
                <a:latin typeface="Arial"/>
                <a:ea typeface="Arial"/>
                <a:cs typeface="Arial"/>
              </a:rPr>
              <a:t>FLOW 09 | REPORTING / ANALYTICS</a:t>
            </a:r>
          </a:p>
        </p:txBody>
      </p:sp>
      <p:sp>
        <p:nvSpPr>
          <p:cNvPr id="4" name="claim-10">
            <a:extLst>
              <a:ext uri="{FF2B5EF4-FFF2-40B4-BE49-F238E27FC236}">
                <a16:creationId xmlns:a16="http://schemas.microsoft.com/office/drawing/2014/main" id="{9535B526-5198-4827-BFA7-67644D9413F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66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Trusted operational records become reports and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6801D-69B2-4A97-8E27-15D71F33D6EA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SENTINEL brings attendance, incidents, resources, evaluations, and replacements into management views.</a:t>
            </a:r>
          </a:p>
        </p:txBody>
      </p:sp>
      <p:sp>
        <p:nvSpPr>
          <p:cNvPr id="6" name="header-rule">
            <a:extLst>
              <a:ext uri="{FF2B5EF4-FFF2-40B4-BE49-F238E27FC236}">
                <a16:creationId xmlns:a16="http://schemas.microsoft.com/office/drawing/2014/main" id="{F1D4D962-1664-4D7B-B0D1-31D2D39610D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-DATA-TO-DECISION PIPELINE">
            <a:extLst>
              <a:ext uri="{FF2B5EF4-FFF2-40B4-BE49-F238E27FC236}">
                <a16:creationId xmlns:a16="http://schemas.microsoft.com/office/drawing/2014/main" id="{E4EBCB79-8F47-4927-A826-4E83F547E72C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2095500" cy="228600"/>
          </a:xfrm>
          <a:prstGeom prst="rect">
            <a:avLst/>
          </a:prstGeom>
          <a:solidFill>
            <a:srgbClr val="8DDBBC">
              <a:alpha val="13333"/>
            </a:srgbClr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A9875-3FEF-4AA2-B72B-CFE6AB93572D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DATA-TO-DECISION PIPELINE</a:t>
            </a:r>
          </a:p>
        </p:txBody>
      </p:sp>
      <p:sp>
        <p:nvSpPr>
          <p:cNvPr id="9" name="analytics-source-1">
            <a:extLst>
              <a:ext uri="{FF2B5EF4-FFF2-40B4-BE49-F238E27FC236}">
                <a16:creationId xmlns:a16="http://schemas.microsoft.com/office/drawing/2014/main" id="{027CE5B2-4364-4E76-B083-FB88EB5CE09F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0955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alytics-source-1-marker">
            <a:extLst>
              <a:ext uri="{FF2B5EF4-FFF2-40B4-BE49-F238E27FC236}">
                <a16:creationId xmlns:a16="http://schemas.microsoft.com/office/drawing/2014/main" id="{0A3FB82F-E821-428D-9ABA-F25DCB0334D4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266700" cy="2667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A1365-472F-45B7-9740-A9E6AD8BB835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DC46B3-3C96-48ED-A22E-02D9997B43D7}"/>
              </a:ext>
            </a:extLst>
          </p:cNvPr>
          <p:cNvSpPr>
            <a:spLocks noGrp="1"/>
          </p:cNvSpPr>
          <p:nvPr/>
        </p:nvSpPr>
        <p:spPr>
          <a:xfrm>
            <a:off x="1219200" y="2847975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Attendance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DTR, lateness,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completed shifts</a:t>
            </a:r>
          </a:p>
        </p:txBody>
      </p:sp>
      <p:sp>
        <p:nvSpPr>
          <p:cNvPr id="13" name="analytics-connector-1">
            <a:extLst>
              <a:ext uri="{FF2B5EF4-FFF2-40B4-BE49-F238E27FC236}">
                <a16:creationId xmlns:a16="http://schemas.microsoft.com/office/drawing/2014/main" id="{AFE97D3D-B6FB-4F9A-8E5D-F6163B3C1743}"/>
              </a:ext>
            </a:extLst>
          </p:cNvPr>
          <p:cNvSpPr>
            <a:spLocks noGrp="1"/>
          </p:cNvSpPr>
          <p:nvPr/>
        </p:nvSpPr>
        <p:spPr>
          <a:xfrm>
            <a:off x="2781300" y="2981325"/>
            <a:ext cx="666750" cy="19050"/>
          </a:xfrm>
          <a:prstGeom prst="rect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alytics-connector-1-end">
            <a:extLst>
              <a:ext uri="{FF2B5EF4-FFF2-40B4-BE49-F238E27FC236}">
                <a16:creationId xmlns:a16="http://schemas.microsoft.com/office/drawing/2014/main" id="{70EAA813-3F0C-49C3-8F47-FC0122D93107}"/>
              </a:ext>
            </a:extLst>
          </p:cNvPr>
          <p:cNvSpPr>
            <a:spLocks noGrp="1"/>
          </p:cNvSpPr>
          <p:nvPr/>
        </p:nvSpPr>
        <p:spPr>
          <a:xfrm>
            <a:off x="3409950" y="2952750"/>
            <a:ext cx="76200" cy="76200"/>
          </a:xfrm>
          <a:prstGeom prst="ellipse">
            <a:avLst/>
          </a:prstGeom>
          <a:solidFill>
            <a:srgbClr val="44C8E8"/>
          </a:solidFill>
          <a:ln w="0">
            <a:solidFill>
              <a:srgbClr val="44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alytics-source-2">
            <a:extLst>
              <a:ext uri="{FF2B5EF4-FFF2-40B4-BE49-F238E27FC236}">
                <a16:creationId xmlns:a16="http://schemas.microsoft.com/office/drawing/2014/main" id="{B33A1CB6-0110-4C9C-84BF-B35652406892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20955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alytics-source-2-marker">
            <a:extLst>
              <a:ext uri="{FF2B5EF4-FFF2-40B4-BE49-F238E27FC236}">
                <a16:creationId xmlns:a16="http://schemas.microsoft.com/office/drawing/2014/main" id="{4DC53106-F200-4627-A400-AB0B4AE121F7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266700" cy="2667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F0830-5E32-4AE1-AA2C-500BC23F3CBE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8F95BA-8F8A-49ED-B25E-9ED01347A86C}"/>
              </a:ext>
            </a:extLst>
          </p:cNvPr>
          <p:cNvSpPr>
            <a:spLocks noGrp="1"/>
          </p:cNvSpPr>
          <p:nvPr/>
        </p:nvSpPr>
        <p:spPr>
          <a:xfrm>
            <a:off x="1219200" y="3514725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Incidents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Reports, priority,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19" name="analytics-connector-2">
            <a:extLst>
              <a:ext uri="{FF2B5EF4-FFF2-40B4-BE49-F238E27FC236}">
                <a16:creationId xmlns:a16="http://schemas.microsoft.com/office/drawing/2014/main" id="{88C570D6-11D4-4BCC-98C4-E110EDC47C03}"/>
              </a:ext>
            </a:extLst>
          </p:cNvPr>
          <p:cNvSpPr>
            <a:spLocks noGrp="1"/>
          </p:cNvSpPr>
          <p:nvPr/>
        </p:nvSpPr>
        <p:spPr>
          <a:xfrm>
            <a:off x="2781300" y="3648075"/>
            <a:ext cx="666750" cy="19050"/>
          </a:xfrm>
          <a:prstGeom prst="rect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alytics-connector-2-end">
            <a:extLst>
              <a:ext uri="{FF2B5EF4-FFF2-40B4-BE49-F238E27FC236}">
                <a16:creationId xmlns:a16="http://schemas.microsoft.com/office/drawing/2014/main" id="{CEAF7E45-53D9-4A22-A441-703AA6B3426F}"/>
              </a:ext>
            </a:extLst>
          </p:cNvPr>
          <p:cNvSpPr>
            <a:spLocks noGrp="1"/>
          </p:cNvSpPr>
          <p:nvPr/>
        </p:nvSpPr>
        <p:spPr>
          <a:xfrm>
            <a:off x="3409950" y="3619500"/>
            <a:ext cx="76200" cy="76200"/>
          </a:xfrm>
          <a:prstGeom prst="ellipse">
            <a:avLst/>
          </a:prstGeom>
          <a:solidFill>
            <a:srgbClr val="F18A82"/>
          </a:solidFill>
          <a:ln w="0">
            <a:solidFill>
              <a:srgbClr val="F18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alytics-source-3">
            <a:extLst>
              <a:ext uri="{FF2B5EF4-FFF2-40B4-BE49-F238E27FC236}">
                <a16:creationId xmlns:a16="http://schemas.microsoft.com/office/drawing/2014/main" id="{FEBF437A-DDF9-4CE2-AF63-90882A22B2EB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20955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alytics-source-3-marker">
            <a:extLst>
              <a:ext uri="{FF2B5EF4-FFF2-40B4-BE49-F238E27FC236}">
                <a16:creationId xmlns:a16="http://schemas.microsoft.com/office/drawing/2014/main" id="{BF058B63-7114-4A94-97C2-E3382AA3A156}"/>
              </a:ext>
            </a:extLst>
          </p:cNvPr>
          <p:cNvSpPr>
            <a:spLocks noGrp="1"/>
          </p:cNvSpPr>
          <p:nvPr/>
        </p:nvSpPr>
        <p:spPr>
          <a:xfrm>
            <a:off x="819150" y="42100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C5C299-4919-4B4C-9300-97BF1E3833DA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59AE0D-31CD-4F3A-A0AB-47E6C0801FBD}"/>
              </a:ext>
            </a:extLst>
          </p:cNvPr>
          <p:cNvSpPr>
            <a:spLocks noGrp="1"/>
          </p:cNvSpPr>
          <p:nvPr/>
        </p:nvSpPr>
        <p:spPr>
          <a:xfrm>
            <a:off x="1219200" y="4181475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Resources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Firearms, vehicles,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25" name="analytics-connector-3">
            <a:extLst>
              <a:ext uri="{FF2B5EF4-FFF2-40B4-BE49-F238E27FC236}">
                <a16:creationId xmlns:a16="http://schemas.microsoft.com/office/drawing/2014/main" id="{1A7EC833-7D84-4F9C-A87C-3AB44889ACF9}"/>
              </a:ext>
            </a:extLst>
          </p:cNvPr>
          <p:cNvSpPr>
            <a:spLocks noGrp="1"/>
          </p:cNvSpPr>
          <p:nvPr/>
        </p:nvSpPr>
        <p:spPr>
          <a:xfrm>
            <a:off x="2781300" y="4314825"/>
            <a:ext cx="6667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alytics-connector-3-end">
            <a:extLst>
              <a:ext uri="{FF2B5EF4-FFF2-40B4-BE49-F238E27FC236}">
                <a16:creationId xmlns:a16="http://schemas.microsoft.com/office/drawing/2014/main" id="{0062158D-E87D-4779-BE12-94D0E56BBE7D}"/>
              </a:ext>
            </a:extLst>
          </p:cNvPr>
          <p:cNvSpPr>
            <a:spLocks noGrp="1"/>
          </p:cNvSpPr>
          <p:nvPr/>
        </p:nvSpPr>
        <p:spPr>
          <a:xfrm>
            <a:off x="3409950" y="4286250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alytics-source-4">
            <a:extLst>
              <a:ext uri="{FF2B5EF4-FFF2-40B4-BE49-F238E27FC236}">
                <a16:creationId xmlns:a16="http://schemas.microsoft.com/office/drawing/2014/main" id="{9542D1D4-C763-4757-B33F-95099EEFB6E5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2095500" cy="51435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alytics-source-4-marker">
            <a:extLst>
              <a:ext uri="{FF2B5EF4-FFF2-40B4-BE49-F238E27FC236}">
                <a16:creationId xmlns:a16="http://schemas.microsoft.com/office/drawing/2014/main" id="{655CA424-E1C9-4594-BE1F-7A7344F8F643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266700" cy="2667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695F50-16F3-4969-AFAF-7F9C53E0BC8A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032CC0-D443-47D8-B2B4-A0D2E3B17B0E}"/>
              </a:ext>
            </a:extLst>
          </p:cNvPr>
          <p:cNvSpPr>
            <a:spLocks noGrp="1"/>
          </p:cNvSpPr>
          <p:nvPr/>
        </p:nvSpPr>
        <p:spPr>
          <a:xfrm>
            <a:off x="1219200" y="4848225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People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Evaluations, merit,</a:t>
            </a:r>
          </a:p>
          <a:p>
            <a:pPr algn="l">
              <a:defRPr sz="900" b="0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4F0E8"/>
                </a:solidFill>
                <a:latin typeface="Arial"/>
                <a:ea typeface="Arial"/>
                <a:cs typeface="Arial"/>
              </a:rPr>
              <a:t>replacements</a:t>
            </a:r>
          </a:p>
        </p:txBody>
      </p:sp>
      <p:sp>
        <p:nvSpPr>
          <p:cNvPr id="31" name="analytics-connector-4">
            <a:extLst>
              <a:ext uri="{FF2B5EF4-FFF2-40B4-BE49-F238E27FC236}">
                <a16:creationId xmlns:a16="http://schemas.microsoft.com/office/drawing/2014/main" id="{2B94E0E8-0F48-4D84-A73C-2128208EF91B}"/>
              </a:ext>
            </a:extLst>
          </p:cNvPr>
          <p:cNvSpPr>
            <a:spLocks noGrp="1"/>
          </p:cNvSpPr>
          <p:nvPr/>
        </p:nvSpPr>
        <p:spPr>
          <a:xfrm>
            <a:off x="2781300" y="4981575"/>
            <a:ext cx="666750" cy="19050"/>
          </a:xfrm>
          <a:prstGeom prst="rect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alytics-connector-4-end">
            <a:extLst>
              <a:ext uri="{FF2B5EF4-FFF2-40B4-BE49-F238E27FC236}">
                <a16:creationId xmlns:a16="http://schemas.microsoft.com/office/drawing/2014/main" id="{651AD43E-D79F-45A3-94AA-2C1899AEAD7D}"/>
              </a:ext>
            </a:extLst>
          </p:cNvPr>
          <p:cNvSpPr>
            <a:spLocks noGrp="1"/>
          </p:cNvSpPr>
          <p:nvPr/>
        </p:nvSpPr>
        <p:spPr>
          <a:xfrm>
            <a:off x="3409950" y="4953000"/>
            <a:ext cx="76200" cy="76200"/>
          </a:xfrm>
          <a:prstGeom prst="ellipse">
            <a:avLst/>
          </a:prstGeom>
          <a:solidFill>
            <a:srgbClr val="8DDBBC"/>
          </a:solidFill>
          <a:ln w="0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alytics-service">
            <a:extLst>
              <a:ext uri="{FF2B5EF4-FFF2-40B4-BE49-F238E27FC236}">
                <a16:creationId xmlns:a16="http://schemas.microsoft.com/office/drawing/2014/main" id="{DC3053F8-8E49-4F4F-B090-82DF711F40C5}"/>
              </a:ext>
            </a:extLst>
          </p:cNvPr>
          <p:cNvSpPr>
            <a:spLocks noGrp="1"/>
          </p:cNvSpPr>
          <p:nvPr/>
        </p:nvSpPr>
        <p:spPr>
          <a:xfrm>
            <a:off x="3619500" y="3448050"/>
            <a:ext cx="1847850" cy="723900"/>
          </a:xfrm>
          <a:prstGeom prst="rect">
            <a:avLst/>
          </a:prstGeom>
          <a:solidFill>
            <a:srgbClr val="111B2E"/>
          </a:solidFill>
          <a:ln w="9525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nalytics-service-marker">
            <a:extLst>
              <a:ext uri="{FF2B5EF4-FFF2-40B4-BE49-F238E27FC236}">
                <a16:creationId xmlns:a16="http://schemas.microsoft.com/office/drawing/2014/main" id="{B12DB4FB-D5C3-4591-A51E-590520446022}"/>
              </a:ext>
            </a:extLst>
          </p:cNvPr>
          <p:cNvSpPr>
            <a:spLocks noGrp="1"/>
          </p:cNvSpPr>
          <p:nvPr/>
        </p:nvSpPr>
        <p:spPr>
          <a:xfrm>
            <a:off x="3771900" y="3600450"/>
            <a:ext cx="266700" cy="2667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3BFCF1-03A3-40CC-A4CA-E5723AABEC50}"/>
              </a:ext>
            </a:extLst>
          </p:cNvPr>
          <p:cNvSpPr>
            <a:spLocks noGrp="1"/>
          </p:cNvSpPr>
          <p:nvPr/>
        </p:nvSpPr>
        <p:spPr>
          <a:xfrm>
            <a:off x="3771900" y="36385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0B11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1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28C9F7-F303-4B57-95C2-2BD3A8A75522}"/>
              </a:ext>
            </a:extLst>
          </p:cNvPr>
          <p:cNvSpPr>
            <a:spLocks noGrp="1"/>
          </p:cNvSpPr>
          <p:nvPr/>
        </p:nvSpPr>
        <p:spPr>
          <a:xfrm>
            <a:off x="4171950" y="3571875"/>
            <a:ext cx="11620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Validated</a:t>
            </a:r>
          </a:p>
          <a:p>
            <a:pPr algn="l">
              <a:defRPr sz="1200" b="1">
                <a:solidFill>
                  <a:srgbClr val="F4F0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report service</a:t>
            </a:r>
          </a:p>
        </p:txBody>
      </p:sp>
      <p:sp>
        <p:nvSpPr>
          <p:cNvPr id="37" name="analytics-to-view">
            <a:extLst>
              <a:ext uri="{FF2B5EF4-FFF2-40B4-BE49-F238E27FC236}">
                <a16:creationId xmlns:a16="http://schemas.microsoft.com/office/drawing/2014/main" id="{14E94A99-4494-4542-850C-9197E47C12A9}"/>
              </a:ext>
            </a:extLst>
          </p:cNvPr>
          <p:cNvSpPr>
            <a:spLocks noGrp="1"/>
          </p:cNvSpPr>
          <p:nvPr/>
        </p:nvSpPr>
        <p:spPr>
          <a:xfrm>
            <a:off x="5486400" y="3810000"/>
            <a:ext cx="704850" cy="19050"/>
          </a:xfrm>
          <a:prstGeom prst="rect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nalytics-to-view-end">
            <a:extLst>
              <a:ext uri="{FF2B5EF4-FFF2-40B4-BE49-F238E27FC236}">
                <a16:creationId xmlns:a16="http://schemas.microsoft.com/office/drawing/2014/main" id="{90E8C9B6-0A0A-40D6-AECE-1216C8D91CE2}"/>
              </a:ext>
            </a:extLst>
          </p:cNvPr>
          <p:cNvSpPr>
            <a:spLocks noGrp="1"/>
          </p:cNvSpPr>
          <p:nvPr/>
        </p:nvSpPr>
        <p:spPr>
          <a:xfrm>
            <a:off x="6153150" y="3781425"/>
            <a:ext cx="76200" cy="76200"/>
          </a:xfrm>
          <a:prstGeom prst="ellipse">
            <a:avLst/>
          </a:prstGeom>
          <a:solidFill>
            <a:srgbClr val="F4B860"/>
          </a:solidFill>
          <a:ln w="0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nalytics-output">
            <a:extLst>
              <a:ext uri="{FF2B5EF4-FFF2-40B4-BE49-F238E27FC236}">
                <a16:creationId xmlns:a16="http://schemas.microsoft.com/office/drawing/2014/main" id="{A460F8F5-B02E-40B2-97AF-5E35181AAD9D}"/>
              </a:ext>
            </a:extLst>
          </p:cNvPr>
          <p:cNvSpPr>
            <a:spLocks noGrp="1"/>
          </p:cNvSpPr>
          <p:nvPr/>
        </p:nvSpPr>
        <p:spPr>
          <a:xfrm>
            <a:off x="6286500" y="2609850"/>
            <a:ext cx="3009900" cy="2343150"/>
          </a:xfrm>
          <a:prstGeom prst="rect">
            <a:avLst/>
          </a:prstGeom>
          <a:solidFill>
            <a:srgbClr val="101D31"/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44B62B-390D-4BD1-8426-DFCDF6FE49EB}"/>
              </a:ext>
            </a:extLst>
          </p:cNvPr>
          <p:cNvSpPr>
            <a:spLocks noGrp="1"/>
          </p:cNvSpPr>
          <p:nvPr/>
        </p:nvSpPr>
        <p:spPr>
          <a:xfrm>
            <a:off x="6534150" y="28384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MANAGEMENT 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E225D7-645B-4DED-B6D5-7BE930D0E971}"/>
              </a:ext>
            </a:extLst>
          </p:cNvPr>
          <p:cNvSpPr>
            <a:spLocks noGrp="1"/>
          </p:cNvSpPr>
          <p:nvPr/>
        </p:nvSpPr>
        <p:spPr>
          <a:xfrm>
            <a:off x="6534150" y="30861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44C8E8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44C8E8"/>
                </a:solidFill>
                <a:latin typeface="Georgia"/>
                <a:ea typeface="Georgia"/>
                <a:cs typeface="Georgia"/>
              </a:rPr>
              <a:t>Attendance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1D210D-2802-42CC-9A43-13B0CA1D3860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rate and late check-ins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D16C3C-61F9-4278-9212-5C81CA84EB43}"/>
              </a:ext>
            </a:extLst>
          </p:cNvPr>
          <p:cNvSpPr>
            <a:spLocks noGrp="1"/>
          </p:cNvSpPr>
          <p:nvPr/>
        </p:nvSpPr>
        <p:spPr>
          <a:xfrm>
            <a:off x="6534150" y="36957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4B86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4B860"/>
                </a:solidFill>
                <a:latin typeface="Georgia"/>
                <a:ea typeface="Georgia"/>
                <a:cs typeface="Georgia"/>
              </a:rPr>
              <a:t>Availability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C71CCA-A296-4D39-8B13-20EBBF516BA8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firearms, vehicles, guards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C87A4A-DB28-4437-8F04-5D49AE4E4FD6}"/>
              </a:ext>
            </a:extLst>
          </p:cNvPr>
          <p:cNvSpPr>
            <a:spLocks noGrp="1"/>
          </p:cNvSpPr>
          <p:nvPr/>
        </p:nvSpPr>
        <p:spPr>
          <a:xfrm>
            <a:off x="6534150" y="4305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8DDBB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8DDBBC"/>
                </a:solidFill>
                <a:latin typeface="Georgia"/>
                <a:ea typeface="Georgia"/>
                <a:cs typeface="Georgia"/>
              </a:rPr>
              <a:t>Performance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8E86DB-C7E9-4012-962E-DC1D85B6E2F5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incidents, evaluations, merit</a:t>
            </a:r>
          </a:p>
        </p:txBody>
      </p:sp>
      <p:sp>
        <p:nvSpPr>
          <p:cNvPr id="47" name="note-Adviser point">
            <a:extLst>
              <a:ext uri="{FF2B5EF4-FFF2-40B4-BE49-F238E27FC236}">
                <a16:creationId xmlns:a16="http://schemas.microsoft.com/office/drawing/2014/main" id="{E8BEAEE0-830F-4223-98EA-6A764C8EAC98}"/>
              </a:ext>
            </a:extLst>
          </p:cNvPr>
          <p:cNvSpPr>
            <a:spLocks noGrp="1"/>
          </p:cNvSpPr>
          <p:nvPr/>
        </p:nvSpPr>
        <p:spPr>
          <a:xfrm>
            <a:off x="9620250" y="2609850"/>
            <a:ext cx="2000250" cy="2343150"/>
          </a:xfrm>
          <a:prstGeom prst="rect">
            <a:avLst/>
          </a:prstGeom>
          <a:solidFill>
            <a:srgbClr val="16233A"/>
          </a:solidFill>
          <a:ln w="9525">
            <a:solidFill>
              <a:srgbClr val="8DDB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6DDA26C-6A0B-4A79-B2DD-1D75E0077360}"/>
              </a:ext>
            </a:extLst>
          </p:cNvPr>
          <p:cNvSpPr>
            <a:spLocks noGrp="1"/>
          </p:cNvSpPr>
          <p:nvPr/>
        </p:nvSpPr>
        <p:spPr>
          <a:xfrm>
            <a:off x="9791700" y="27813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DDBBC"/>
                </a:solidFill>
                <a:latin typeface="Courier New"/>
                <a:ea typeface="Courier New"/>
                <a:cs typeface="Courier New"/>
              </a:rPr>
              <a:t>ADVISER POINT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2E99D3-5997-4DAA-AD60-D587BEC5F021}"/>
              </a:ext>
            </a:extLst>
          </p:cNvPr>
          <p:cNvSpPr>
            <a:spLocks noGrp="1"/>
          </p:cNvSpPr>
          <p:nvPr/>
        </p:nvSpPr>
        <p:spPr>
          <a:xfrm>
            <a:off x="9791700" y="3105150"/>
            <a:ext cx="16573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2"/>
                </a:solidFill>
                <a:latin typeface="Arial"/>
                <a:ea typeface="Arial"/>
                <a:cs typeface="Arial"/>
              </a:rPr>
              <a:t>Analytics are advisory. The system organizes evidence for supervisors and administrators; human personnel remain responsible for decisions.</a:t>
            </a:r>
          </a:p>
        </p:txBody>
      </p:sp>
      <p:sp>
        <p:nvSpPr>
          <p:cNvPr id="50" name="analytics-human">
            <a:extLst>
              <a:ext uri="{FF2B5EF4-FFF2-40B4-BE49-F238E27FC236}">
                <a16:creationId xmlns:a16="http://schemas.microsoft.com/office/drawing/2014/main" id="{C2800C9A-E656-41DA-A199-1C08CD015F46}"/>
              </a:ext>
            </a:extLst>
          </p:cNvPr>
          <p:cNvSpPr>
            <a:spLocks noGrp="1"/>
          </p:cNvSpPr>
          <p:nvPr/>
        </p:nvSpPr>
        <p:spPr>
          <a:xfrm>
            <a:off x="3619500" y="4705350"/>
            <a:ext cx="1847850" cy="514350"/>
          </a:xfrm>
          <a:prstGeom prst="rect">
            <a:avLst/>
          </a:prstGeom>
          <a:solidFill>
            <a:srgbClr val="2A2417"/>
          </a:solidFill>
          <a:ln w="9525">
            <a:solidFill>
              <a:srgbClr val="F4B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955F78-03F0-44E8-B7BF-E4ED10D7E41E}"/>
              </a:ext>
            </a:extLst>
          </p:cNvPr>
          <p:cNvSpPr>
            <a:spLocks noGrp="1"/>
          </p:cNvSpPr>
          <p:nvPr/>
        </p:nvSpPr>
        <p:spPr>
          <a:xfrm>
            <a:off x="3810000" y="48958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4B860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B860"/>
                </a:solidFill>
                <a:latin typeface="Courier New"/>
                <a:ea typeface="Courier New"/>
                <a:cs typeface="Courier New"/>
              </a:rPr>
              <a:t>HUMAN REVIEW</a:t>
            </a:r>
          </a:p>
        </p:txBody>
      </p:sp>
      <p:sp>
        <p:nvSpPr>
          <p:cNvPr id="52" name="footer-rule">
            <a:extLst>
              <a:ext uri="{FF2B5EF4-FFF2-40B4-BE49-F238E27FC236}">
                <a16:creationId xmlns:a16="http://schemas.microsoft.com/office/drawing/2014/main" id="{B1491847-3BFB-4929-B621-1B0ACCF67E0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304057"/>
          </a:solidFill>
          <a:ln w="0">
            <a:solidFill>
              <a:srgbClr val="30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2FE018-362F-4ED9-86E8-1A7028DDADE6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3809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38097"/>
                </a:solidFill>
                <a:latin typeface="Arial"/>
                <a:ea typeface="Arial"/>
                <a:cs typeface="Arial"/>
              </a:rPr>
              <a:t>Source: performance metrics, DTR, firearm compliance, and analytics modules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DA3AA2-CD7D-4E0E-A7F5-A80C24DDA374}"/>
              </a:ext>
            </a:extLst>
          </p:cNvPr>
          <p:cNvSpPr>
            <a:spLocks noGrp="1"/>
          </p:cNvSpPr>
          <p:nvPr/>
        </p:nvSpPr>
        <p:spPr>
          <a:xfrm>
            <a:off x="11144250" y="6543675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44C8E8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55579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Microsoft Office PowerPoint</Application>
  <DocSecurity>0</DocSecurity>
  <PresentationFormat>Widescreen</PresentationFormat>
  <Paragraphs>271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Dwight Karl</cp:lastModifiedBy>
  <cp:revision>1</cp:revision>
  <dcterms:created xsi:type="dcterms:W3CDTF">2026-09-09T06:27:09Z</dcterms:created>
  <dcterms:modified xsi:type="dcterms:W3CDTF">2026-09-09T06:43:33Z</dcterms:modified>
</cp:coreProperties>
</file>